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 SPEAKER NOTES</a:t>
            </a:r>
          </a:p>
          <a:p/>
          <a:p>
            <a:r>
              <a:t>Opening hook: 'Every behavior you are about to see — the calculations, the output formatting, the financial analysis — comes from records in a registry, not from the agent code. The agent has no financial logic in it at all.'</a:t>
            </a:r>
          </a:p>
          <a:p/>
          <a:p>
            <a:r>
              <a:t>Core proposition: the AWS Agent Registry is the control plane for agent behavior. What skills the agent has, which tools it loads, and how it produces output are all discovered at runtime from registry records — not compiled in.</a:t>
            </a:r>
          </a:p>
          <a:p/>
          <a:p>
            <a:r>
              <a:t>Why it matters: adding a new capability (e.g., cash flow forecasting) requires no code changes, no redeployment, no restart — just publish a new registry record.</a:t>
            </a:r>
          </a:p>
          <a:p/>
          <a:p>
            <a:r>
              <a:t>GOTCHA: This is a public-preview service. API surface and behavior may change. All patterns shown here are grounded in AWS docs and the official GitHub repos (aws-samples/amazon-bedrock-agentcore-samples, modelcontextprotocol).</a:t>
            </a:r>
          </a:p>
          <a:p/>
          <a:p>
            <a:r>
              <a:t>AUDIENCE QUESTION TO ANTICIPATE: 'Is this the same as Lambda function calling?' No — the registry is a discovery layer that decouples skill logic from agent code. Lambda function calling is execution; this is composition and discovery.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WE'RE SHOWING — SPEAKER NOTES</a:t>
            </a:r>
          </a:p>
          <a:p/>
          <a:p>
            <a:r>
              <a:t>Emphasize the phrase 'no hardcoded skills or tools.' Point at the agent code if shown — the only skills-related code is the registry search and the frontmatter parser. Every financial formula, output format, and calculation step lives in registry records.</a:t>
            </a:r>
          </a:p>
          <a:p/>
          <a:p>
            <a:r>
              <a:t>WHY THIS MATTERS: Traditional agents bake domain logic into code. When requirements change you redeploy. With registry-driven design, the agent is a generic executor. The registry is the control plane. New skill = new record, not a new deployment.</a:t>
            </a:r>
          </a:p>
          <a:p/>
          <a:p>
            <a:r>
              <a:t>CONSISTENT WITH AWS DOCS: AWS Agent Registry documentation explicitly describes the registry as a 'discovery catalog' for agent capabilities. The search_registry_records API is the canonical mechanism for dynamic capability discovery.</a:t>
            </a:r>
          </a:p>
          <a:p/>
          <a:p>
            <a:r>
              <a:t>GOTCHA: The agent still needs base tools (search_and_load_skill, python_exec, file_read) compiled in. What is registry-driven is domain logic and MCP tool selection, not the core agent scaffolding.</a:t>
            </a:r>
          </a:p>
          <a:p/>
          <a:p>
            <a:r>
              <a:t>ANTICIPATED QUESTION: 'Do you need to restart the agent when you add a skill?' No. The registry is queried per-request. The next user question automatically discovers any newly approved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CONCEPT — SPEAKER NOTES</a:t>
            </a:r>
          </a:p>
          <a:p/>
          <a:p>
            <a:r>
              <a:t>Key insight: 'one search call, all record types.' An agent does not call a separate API for skills vs MCP servers. search_registry_records returns everything ranked together by semantic similarity. The agent then handles each type appropriately.</a:t>
            </a:r>
          </a:p>
          <a:p/>
          <a:p>
            <a:r>
              <a:t>WHY QUERY-DRIVEN DISCOVERY: AWS docs describe the registry as a discovery catalog with no enumerate-all capability. This is intentional — in a large organization with hundreds of skills, you never want all of them loaded. The query surfaces only what is relevant to the current request.</a:t>
            </a:r>
          </a:p>
          <a:p/>
          <a:p>
            <a:r>
              <a:t>ABOUT MCP RECORDS: The registry crawler (synchronizationType=URL) calls your MCP server once at registration time to populate tool schemas. Those schemas are then searchable in the registry without connecting to the server on every search. The server URL is stored in descriptors.mcp.server.inlineContent → remotes[0].url.</a:t>
            </a:r>
          </a:p>
          <a:p/>
          <a:p>
            <a:r>
              <a:t>GOTCHA — synchronizationConfiguration not returned by search: The original URL you passed to create_registry_record is NOT returned in search results. You must parse it from the stored server manifest (descriptors.mcp.server.inlineContent).</a:t>
            </a:r>
          </a:p>
          <a:p/>
          <a:p>
            <a:r>
              <a:t>ANTICIPATED QUESTION: 'What other record types exist?' MCP, AGENT_SKILLS, A2A (Agent-to-Agent), CUSTOM. This demo uses MCP and AGENT_SKILLS. A2A is for discovering and invoking other agents; CUSTOM is free-form.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CONTENTS — SPEAKER NOTES</a:t>
            </a:r>
          </a:p>
          <a:p/>
          <a:p>
            <a:r>
              <a:t>Point out: one MCP record, five skill records. The agent uses one search call to find both types. The ranking surfaces the most relevant AGENT_SKILLS record for each user question — the MCP record is typically lower in the ranking since user questions describe financial tasks, not server connectivity.</a:t>
            </a:r>
          </a:p>
          <a:p/>
          <a:p>
            <a:r>
              <a:t>The MCP record was the hard one to get registered (three sequential problems — covered on the next slide). The AGENT_SKILLS records are straightforward: create_registry_record with descriptorType=AGENT_SKILLS and the SKILL.md inline.</a:t>
            </a:r>
          </a:p>
          <a:p/>
          <a:p>
            <a:r>
              <a:t>All 6 records are in APPROVED status. Records go through DRAFT → PENDING_APPROVAL → APPROVED. The registry only returns APPROVED records in search results.</a:t>
            </a:r>
          </a:p>
          <a:p/>
          <a:p>
            <a:r>
              <a:t>Registry ARN: arn:aws:bedrock-agentcore:us-east-1:336468392708:registry/0ybA4HzNZgVlIJl6</a:t>
            </a:r>
          </a:p>
          <a:p/>
          <a:p>
            <a:r>
              <a:t>GOTCHA: The search index takes ~100 seconds to reflect a newly approved record. If you just published a record and it's not showing in search, wait 2 minutes.</a:t>
            </a:r>
          </a:p>
          <a:p/>
          <a:p>
            <a:r>
              <a:t>ANTICIPATED QUESTION: 'Can you have multiple registries?' Yes. The agent needs REGISTRY_ARN to bootstrap — it must know which registry to query before it can query the registry. That ARN is stored in SSM (/financial-agent/registry-arn) and injected as an ECS task environment variable. That is the only thing SSM holds now.</a:t>
            </a:r>
          </a:p>
          <a:p/>
          <a:p>
            <a:r>
              <a:t>SSM ROLE — what is still there vs what was removed:</a:t>
            </a:r>
          </a:p>
          <a:p>
            <a:r>
              <a:t>  KEPT in SSM:    REGISTRY_ARN  — bootstrap, needed before any registry call can happen</a:t>
            </a:r>
          </a:p>
          <a:p>
            <a:r>
              <a:t>  KEPT in SSM:    SKILLS_BUCKET — S3 bucket for skill artifacts</a:t>
            </a:r>
          </a:p>
          <a:p>
            <a:r>
              <a:t>  REMOVED from SSM: MCP_SERVER_URL — this was a workaround; the URL now comes from</a:t>
            </a:r>
          </a:p>
          <a:p>
            <a:r>
              <a:t>                    the Registry MCP record (descriptors.mcp.server.inlineContent → remotes[0].url)</a:t>
            </a:r>
          </a:p>
          <a:p>
            <a:r>
              <a:t>The agent discovers the MCP URL at startup via search_registry_records — not from SSM.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 SPEAKER NOTES</a:t>
            </a:r>
          </a:p>
          <a:p/>
          <a:p>
            <a:r>
              <a:t>The single constraint that drives almost all infrastructure choices: the AWS Agent Registry crawler must reach the MCP server over HTTPS from outside the VPC.</a:t>
            </a:r>
          </a:p>
          <a:p/>
          <a:p>
            <a:r>
              <a:t>THREE ECS SERVICES:</a:t>
            </a:r>
          </a:p>
          <a:p>
            <a:r>
              <a:t>- Chat UI (Chainlit): user-facing, behind CloudFront. No direct public IP.</a:t>
            </a:r>
          </a:p>
          <a:p>
            <a:r>
              <a:t>- Strands Agent: the generic executor. Queries registry, loads skills, calls MCP.</a:t>
            </a:r>
          </a:p>
          <a:p>
            <a:r>
              <a:t>- MCP Server (FastMCP): serves get_financial_data and get_kpi_benchmarks.   Private — never directly internet-accessible.</a:t>
            </a:r>
          </a:p>
          <a:p/>
          <a:p>
            <a:r>
              <a:t>WHY API GATEWAY + VPC LINK:</a:t>
            </a:r>
          </a:p>
          <a:p>
            <a:r>
              <a:t>A private ALB DNS name (internal-xxx.elb.amazonaws.com) is not resolvable from outside the VPC. The registry crawler runs in AWS-managed infrastructure outside your VPC. The only way to give it access is a public HTTPS endpoint. API GW HTTP API with a VPC Link creates a managed ENI inside your private subnet — the bridge.</a:t>
            </a:r>
          </a:p>
          <a:p>
            <a:r>
              <a:t>The endpoint is IAM-protected: only principals with execute-api:Invoke can call it. The registry crawler uses the task role ARN you provide in credentialProviderConfigurations.</a:t>
            </a:r>
          </a:p>
          <a:p/>
          <a:p>
            <a:r>
              <a:t>WHY NAT GATEWAY:</a:t>
            </a:r>
          </a:p>
          <a:p>
            <a:r>
              <a:t>The agent makes outbound calls to bedrock-agentcore (search_registry_records, get_registry_record) and bedrock-runtime (Bedrock InvokeModel). These are AWS service API endpoints. Private subnets have no default internet route. NAT Gateway in the public subnet provides that egress. The MCP server does NOT need NAT — it only receives inbound requests.</a:t>
            </a:r>
          </a:p>
          <a:p/>
          <a:p>
            <a:r>
              <a:t>GOTCHA: NAT Gateway costs ~$35/month base + data transfer. For production, replace with VPC PrivateLink (Interface Endpoints) for bedrock-agentcore and bedrock-runtime. That keeps traffic on the AWS backbone and removes NAT costs.</a:t>
            </a:r>
          </a:p>
          <a:p/>
          <a:p>
            <a:r>
              <a:t>VPC LATTICE: Not deployed in this demo — mentioned as the production-scale pattern. Lattice service mesh handles multi-account, multi-server scenarios with built-in auth propagation. The registry URL-sync model works identically — Lattice just replaces the per-server API GW + VPC Link overhead.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PROBLEMS — SPEAKER NOTES</a:t>
            </a:r>
          </a:p>
          <a:p/>
          <a:p>
            <a:r>
              <a:t>All three problems were sequential — you hit the next one only after fixing the previous. None of them is individually surprising in hindsight, but the end-to-end recipe (all three together) is not documented anywhere.</a:t>
            </a:r>
          </a:p>
          <a:p/>
          <a:p>
            <a:r>
              <a:t>PROBLEM 1 DETAIL — IAM TRUST POLICY:</a:t>
            </a:r>
          </a:p>
          <a:p>
            <a:r>
              <a:t>The credential provider in create_registry_record specifies an IAM role ARN. The registry service (bedrock-agentcore.amazonaws.com) needs to assume that role to sign crawl requests. Trust policies are additive — adding the new principal does not remove the existing ecs-tasks.amazonaws.com principal. Both are needed.</a:t>
            </a:r>
          </a:p>
          <a:p>
            <a:r>
              <a:t>CloudFormation snippet (cfn.yaml AssumeRolePolicyDocument):</a:t>
            </a:r>
          </a:p>
          <a:p>
            <a:r>
              <a:t>  Principal.Service: [ecs-tasks.amazonaws.com, bedrock-agentcore.amazonaws.com]</a:t>
            </a:r>
          </a:p>
          <a:p/>
          <a:p>
            <a:r>
              <a:t>PROBLEM 2 DETAIL — JSON vs SSE:</a:t>
            </a:r>
          </a:p>
          <a:p>
            <a:r>
              <a:t>FastMCP's http_app() has a json_response parameter (False by default). Setting it True makes the server return application/json for POST requests instead of SSE. The MCP client (used by the agent) sends Accept: application/json, text/event-stream and handles both formats — so this is fully backward compatible.</a:t>
            </a:r>
          </a:p>
          <a:p>
            <a:r>
              <a:t>Confirmed with: aws-samples/amazon-bedrock-agentcore-samples and FastMCP docs.</a:t>
            </a:r>
          </a:p>
          <a:p>
            <a:r>
              <a:t>AWS has stated SSE support is on the roadmap.</a:t>
            </a:r>
          </a:p>
          <a:p/>
          <a:p>
            <a:r>
              <a:t>PROBLEM 3 DETAIL — URL PATH:</a:t>
            </a:r>
          </a:p>
          <a:p>
            <a:r>
              <a:t>The server manifest follows the MCP spec schema (modelcontextprotocol.io/schemas/2025-12-11). Inside inlineContent JSON: { 'remotes': [{ 'url': 'https://...', 'transportType': 'streamable-http' }] }</a:t>
            </a:r>
          </a:p>
          <a:p>
            <a:r>
              <a:t>The agent's _discover_mcp_url() function parses this path.</a:t>
            </a:r>
          </a:p>
          <a:p/>
          <a:p>
            <a:r>
              <a:t>WHAT WE EXPLICITLY DID NOT DO:</a:t>
            </a:r>
          </a:p>
          <a:p>
            <a:r>
              <a:t>We did not add an MCP_SERVER_URL environment variable as a fallback. The requirement was: agent must discover the URL from the registry, full stop. Any workaround that bypasses the registry is inconsistent with the design intent.</a:t>
            </a:r>
          </a:p>
          <a:p/>
          <a:p>
            <a:r>
              <a:t>ANTICIPATED QUESTION: 'How do you know json_response=True is the right fix and not a hack?'</a:t>
            </a:r>
          </a:p>
          <a:p>
            <a:r>
              <a:t>It is a documented parameter in the FastMCP SDK designed for exactly this use case — clients that don't support SSE. The AWS docs confirm SSE is a current limitation of the registry crawler. This is the correct and intended fix.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INITIALIZATION &amp; TWO-PHASE PATTERN — SPEAKER NOTES</a:t>
            </a:r>
          </a:p>
          <a:p/>
          <a:p>
            <a:r>
              <a:t>KEY TIMING POINT: Initialization happens when the ECS task starts, not when the user opens the browser. The task is already warm. The user seeing the chat screen does NOT trigger any agent or registry activity. The agent is invoked the first time the user submits a message.</a:t>
            </a:r>
          </a:p>
          <a:p/>
          <a:p>
            <a:r>
              <a:t>WHAT 'STARTUP' MEANS:</a:t>
            </a:r>
          </a:p>
          <a:p>
            <a:r>
              <a:t>The ECS task starts and the Python process runs agent.py. The _discover_mcp_url() function is called once during process initialization. It does a single search_registry_records call, finds the MCP record, parses the URL, and stores it as a module-level string. That string persists across all subsequent requests served by this task instance. No re-discovery on each request.</a:t>
            </a:r>
          </a:p>
          <a:p/>
          <a:p>
            <a:r>
              <a:t>WHY TWO PHASES:</a:t>
            </a:r>
          </a:p>
          <a:p>
            <a:r>
              <a:t>Phase 1 (pre-flight) is framework code that runs before the Strands agent is invoked. It does the registry search and tool loading. Phase 2 is the Strands agent itself — it uses search_and_load_skill (a tool available to it) to do a second registry search and load the full SKILL.md. The first search (Phase 1) is for tool loading; the second search (Phase 2, via tool call) is for the full skill procedure.</a:t>
            </a:r>
          </a:p>
          <a:p/>
          <a:p>
            <a:r>
              <a:t>PROGRESSIVE DISCLOSURE:</a:t>
            </a:r>
          </a:p>
          <a:p>
            <a:r>
              <a:t>The SKILL.md body (the full procedure) is NOT loaded at startup or during Phase 1. It is loaded during Phase 2 when the agent decides to call search_and_load_skill. This is 'progressive disclosure' — the agent gets more detail as it needs it, not all upfront. For a registry with many skills, this keeps per-request context small.</a:t>
            </a:r>
          </a:p>
          <a:p/>
          <a:p>
            <a:r>
              <a:t>mcp_tools: IS A CUSTOM CONVENTION:</a:t>
            </a:r>
          </a:p>
          <a:p>
            <a:r>
              <a:t>The AWS Agent Registry AGENT_SKILLS record schema has no field for MCP tool dependencies. The registry stores and returns skillMd opaquely — it does not understand or process the frontmatter. The mcp_tools: list in frontmatter is parsed by our agent code. This is a pattern built on top of the registry, not a feature the registry provides.</a:t>
            </a:r>
          </a:p>
          <a:p/>
          <a:p>
            <a:r>
              <a:t>ANTICIPATED QUESTION: 'Why not load all MCP tools for every request?'</a:t>
            </a:r>
          </a:p>
          <a:p>
            <a:r>
              <a:t>Two reasons: (1) context window — loading 50 tools fills context with irrelevant schemas, crowding out the actual skill procedure and data; (2) model accuracy — giving the model fewer, more targeted tools reduces wrong tool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vs GATEWAY — SPEAKER NOTES</a:t>
            </a:r>
          </a:p>
          <a:p/>
          <a:p>
            <a:r>
              <a:t>This is the question that comes up most often. Get the contrast sharp:</a:t>
            </a:r>
          </a:p>
          <a:p>
            <a:r>
              <a:t>Gateway = execution layer. Registry = discovery catalog.</a:t>
            </a:r>
          </a:p>
          <a:p/>
          <a:p>
            <a:r>
              <a:t>AGENTCORE GATEWAY:</a:t>
            </a:r>
          </a:p>
          <a:p>
            <a:r>
              <a:t>The gateway aggregates multiple MCP servers into a single virtual MCP server endpoint. The agent connects to one URL and sees all tools from all attached servers. The built-in x_amz_bedrock_agentcore_search tool lets the agent do semantic tool discovery INSIDE the gateway — the agent calls the search tool with a natural language query and gets back a filtered list of relevant tools. Then the agent calls those tools through the same gateway endpoint.</a:t>
            </a:r>
          </a:p>
          <a:p>
            <a:r>
              <a:t>From AWS docs: 'Semantic Tool Selection — Enables agents to search across available tools to find the most appropriate ones for specific contexts, allowing agents to leverage thousands of tools while minimizing prompt size and reducing latency.'</a:t>
            </a:r>
          </a:p>
          <a:p/>
          <a:p>
            <a:r>
              <a:t>AWS AGENT REGISTRY:</a:t>
            </a:r>
          </a:p>
          <a:p>
            <a:r>
              <a:t>The registry is a catalog. It stores metadata — skill procedures, MCP server manifests, agent capabilities. search_registry_records does semantic search across all record types. But the registry does NOT execute tools. After finding an MCP record, the agent must connect directly to the actual MCP server to invoke tools. The registry is the map; the MCP server is the territory.</a:t>
            </a:r>
          </a:p>
          <a:p/>
          <a:p>
            <a:r>
              <a:t>WHY WE USED REGISTRY (not Gateway):</a:t>
            </a:r>
          </a:p>
          <a:p>
            <a:r>
              <a:t>The primary goal was to demonstrate AGENT_SKILLS discovery — skills with step-by-step procedures stored in the registry. Gateway has no equivalent to AGENT_SKILLS records. Gateway is about tool aggregation; registry is about capability composition (skills + tools).</a:t>
            </a:r>
          </a:p>
          <a:p/>
          <a:p>
            <a:r>
              <a:t>COMPLEMENTARY USE:</a:t>
            </a:r>
          </a:p>
          <a:p>
            <a:r>
              <a:t>A production system could use both. Registry to discover which skills and which gateway apply to a request. Gateway to execute tools through a unified interface with built-in semantic routing. They solve adjacent problems at different layers.</a:t>
            </a:r>
          </a:p>
          <a:p/>
          <a:p>
            <a:r>
              <a:t>ANTICIPATED QUESTION: 'Which should I use?'</a:t>
            </a:r>
          </a:p>
          <a:p>
            <a:r>
              <a:t>If you have many MCP servers and want unified access + semantic tool routing at the execution layer → Gateway. If you want a searchable catalog of diverse capabilities (skills, agents, servers) that agents discover dynamically → Registry. For advanced use cases, both together.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REQUESTS 1 &amp; 2 — SPEAKER NOTES</a:t>
            </a:r>
          </a:p>
          <a:p/>
          <a:p>
            <a:r>
              <a:t>REQUEST 1 NARRATION:</a:t>
            </a:r>
          </a:p>
          <a:p>
            <a:r>
              <a:t>'Before I send this, the agent is sitting idle. No skills, no MCP connection, no tools except the three base tools. It knows the MCP server URL from its startup query.'</a:t>
            </a:r>
          </a:p>
          <a:p/>
          <a:p>
            <a:r>
              <a:t>Point at Phase 1 (registry search panel in UI):</a:t>
            </a:r>
          </a:p>
          <a:p>
            <a:r>
              <a:t>'The framework calls search_registry_records with my exact message. Semantic vector search across all 6 records. Top AGENT_SKILLS: quarterly-kpi-calculator. The framework reads only the frontmatter — the YAML header. It says mcp_tools: [get_financial_data, get_kpi_benchmarks]. Those two tools are loaded right now. If the MCP server had 50 tools, we'd still only load these two.'</a:t>
            </a:r>
          </a:p>
          <a:p/>
          <a:p>
            <a:r>
              <a:t>Point at Phase 2 (agent pipeline steps):</a:t>
            </a:r>
          </a:p>
          <a:p>
            <a:r>
              <a:t>'Now the Strands agent starts with 5 tools total. It calls search_and_load_skill — gets the full SKILL.md. Now it has the complete procedure. Step 1: benchmarks. Step 2: financial data Q3. Step 3: Python calculation. Step 4: benchmark comparison. Step 5: format the table. None of that logic is in the agent code.'</a:t>
            </a:r>
          </a:p>
          <a:p/>
          <a:p>
            <a:r>
              <a:t>REQUEST 2 NARRATION:</a:t>
            </a:r>
          </a:p>
          <a:p>
            <a:r>
              <a:t>'New request, clean slate. The per-request context is rebuilt — MCP tools from Request 1 are gone. Phase 1 runs again. Same registry search, different query → different top match. This skill's SKILL.md specifies a completely different output structure: five mandatory sections, under 400 words, written for a CFO who reads it in 60 seconds.'</a:t>
            </a:r>
          </a:p>
          <a:p/>
          <a:p>
            <a:r>
              <a:t>GOTCHA: Point out the per-request context rebuild. Students often assume state persists between requests. In this architecture, each request is fresh — MCP tools are loaded per-request, not once at startup.</a:t>
            </a:r>
          </a:p>
          <a:p/>
          <a:p>
            <a:r>
              <a:t>CONTEXT SUMMARY — Request 1:</a:t>
            </a:r>
          </a:p>
          <a:p>
            <a:r>
              <a:t>Tools: search_and_load_skill, file_read, python_exec, get_financial_data, get_kpi_benchmarks (5)</a:t>
            </a:r>
          </a:p>
          <a:p>
            <a:r>
              <a:t>Skill: quarterly-kpi-calculator</a:t>
            </a:r>
          </a:p>
          <a:p>
            <a:r>
              <a:t>MCP calls: get_kpi_benchmarks ×1, get_financial_data ×2</a:t>
            </a:r>
          </a:p>
          <a:p/>
          <a:p>
            <a:r>
              <a:t>CONTEXT SUMMARY — Request 2:</a:t>
            </a:r>
          </a:p>
          <a:p>
            <a:r>
              <a:t>Tools: same 5 (same mcp_tools declared in this skill — coincidence of domain)</a:t>
            </a:r>
          </a:p>
          <a:p>
            <a:r>
              <a:t>Skill: executive-financial-briefing</a:t>
            </a:r>
          </a:p>
          <a:p>
            <a:r>
              <a:t>MCP calls: get_financial_data ×2, get_kpi_benchmarks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REQUESTS 3 &amp; 4 — SPEAKER NOTES</a:t>
            </a:r>
          </a:p>
          <a:p/>
          <a:p>
            <a:r>
              <a:t>REQUEST 3 NARRATION:</a:t>
            </a:r>
          </a:p>
          <a:p>
            <a:r>
              <a:t>'Clean slate again. Registry search → multi-quarter-trend-analysis. This SKILL.md is different from the others — it says: fetch all four quarters. So the agent makes four get_financial_data calls instead of two. Same infrastructure, same agent, completely different data retrieval pattern dictated by the skill.'</a:t>
            </a:r>
          </a:p>
          <a:p/>
          <a:p>
            <a:r>
              <a:t>Emphasize: the number of MCP calls, which quarters are fetched, the output narrative style — all of that is in the SKILL.md, not in the agent.</a:t>
            </a:r>
          </a:p>
          <a:p/>
          <a:p>
            <a:r>
              <a:t>REQUEST 4 NARRATION:</a:t>
            </a:r>
          </a:p>
          <a:p>
            <a:r>
              <a:t>'Now I ask a meta-question. Watch what happens — does the agent short-circuit to a hardcoded list? No. Phase 1 still fires. The registry is still searched. The agent gets back a ranked list of all five skills with their descriptions. It uses that to answer the question.'</a:t>
            </a:r>
          </a:p>
          <a:p/>
          <a:p>
            <a:r>
              <a:t>'There is no list_skills endpoint. There is no hardcoded inventory. The agent answers this question the same way it answers every question — by searching the registry and reading what it finds. This is the design: the registry is always the source of truth.'</a:t>
            </a:r>
          </a:p>
          <a:p/>
          <a:p>
            <a:r>
              <a:t>GOTCHA: If you run Request 4 right after deploying a new skill, the new skill won't appear in the answer until the search index updates (~100 seconds). The agent is always current with the registry index, not with what you just created.</a:t>
            </a:r>
          </a:p>
          <a:p/>
          <a:p>
            <a:r>
              <a:t>CLOSING NARRATION (after Request 4):</a:t>
            </a:r>
          </a:p>
          <a:p>
            <a:r>
              <a:t>'Every behavior you just saw came from records in the registry. To add cash flow forecasting: write a SKILL.md, call CreateRegistryRecord with descriptorType=AGENT_SKILLS, approve it. The next user asking about cash flow gets that skill. No code change. No redeployment. No restart. The registry is the control plane. The agent is a generic executor.'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REFERENCE — SPEAKER NOTES</a:t>
            </a:r>
          </a:p>
          <a:p/>
          <a:p>
            <a:r>
              <a:t>This slide is the quick-reference for live demos and debugging sessions.</a:t>
            </a:r>
          </a:p>
          <a:p/>
          <a:p>
            <a:r>
              <a:t>CODE PATTERN 1 — json_response=True:</a:t>
            </a:r>
          </a:p>
          <a:p>
            <a:r>
              <a:t>This single parameter is what makes the registry URL-sync work. Without it, FastMCP returns SSE (text/event-stream) and the registry crawler returns:</a:t>
            </a:r>
          </a:p>
          <a:p>
            <a:r>
              <a:t>  'SSE streams from MCP server is currently not supported'</a:t>
            </a:r>
          </a:p>
          <a:p>
            <a:r>
              <a:t>json_response=True makes POST requests return application/json. The lifespan= parameter is also required — without it, the FastMCP session manager is not initialized and you get 'StreamableHTTPSessionManager task group was not initialized' on any tool call.</a:t>
            </a:r>
          </a:p>
          <a:p/>
          <a:p>
            <a:r>
              <a:t>CODE PATTERN 2 — URL extraction:</a:t>
            </a:r>
          </a:p>
          <a:p>
            <a:r>
              <a:t>The synchronizationConfiguration you passed to create_registry_record is NOT returned by search_registry_records. The URL is stored in the server manifest (descriptors.mcp.server.inlineContent) which follows modelcontextprotocol.io/schemas/2025-12-11. The path: inlineContent JSON → remotes[0].url.</a:t>
            </a:r>
          </a:p>
          <a:p/>
          <a:p>
            <a:r>
              <a:t>BOTH PATTERNS ARE:</a:t>
            </a:r>
          </a:p>
          <a:p>
            <a:r>
              <a:t>- Grounded in AWS docs (SSE limitation documented, URL-sync documented)</a:t>
            </a:r>
          </a:p>
          <a:p>
            <a:r>
              <a:t>- Consistent with FastMCP SDK documentation (json_response parameter)</a:t>
            </a:r>
          </a:p>
          <a:p>
            <a:r>
              <a:t>- Consistent with MCP spec (server manifest schema)</a:t>
            </a:r>
          </a:p>
          <a:p>
            <a:r>
              <a:t>- Not workarounds — they are the correct implementation path</a:t>
            </a:r>
          </a:p>
          <a:p/>
          <a:p>
            <a:r>
              <a:t>If demo breaks:</a:t>
            </a:r>
          </a:p>
          <a:p>
            <a:r>
              <a:t>1. Check ECS services: all three should show desired=1, running=1</a:t>
            </a:r>
          </a:p>
          <a:p>
            <a:r>
              <a:t>2. Check registry: all 6 records should be APPROVED</a:t>
            </a:r>
          </a:p>
          <a:p>
            <a:r>
              <a:t>3. Check CloudFront distribution is pointing to the chat ALB</a:t>
            </a:r>
          </a:p>
          <a:p>
            <a:r>
              <a:t>4. MCP endpoint health check: GET https://1hybttfhe2.execute-api.us-east-1.amazonaws.com/mcp/health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SPEAKER NOTES</a:t>
            </a:r>
          </a:p>
          <a:p/>
          <a:p>
            <a:r>
              <a:t>Close with the thesis stated at the start:</a:t>
            </a:r>
          </a:p>
          <a:p>
            <a:r>
              <a:t>'The registry is the control plane. The agent is a generic executor. Every behavior you saw — the calculations, the formatting, the analysis — came from records in the registry. The agent code has no financial logic in it.'</a:t>
            </a:r>
          </a:p>
          <a:p/>
          <a:p>
            <a:r>
              <a:t>TAKEAWAY 1 — REGISTRY AS CONTROL PLANE:</a:t>
            </a:r>
          </a:p>
          <a:p>
            <a:r>
              <a:t>This is the core architectural insight. In traditional agent design, adding capability means code changes. With registry-driven design, the agent is a fixed generic executor. Capability lives in records. The boundary between 'agent code' and 'agent behavior' is now explicit and managed.</a:t>
            </a:r>
          </a:p>
          <a:p/>
          <a:p>
            <a:r>
              <a:t>TAKEAWAY 3 — THE THREE FIXES:</a:t>
            </a:r>
          </a:p>
          <a:p>
            <a:r>
              <a:t>Summarize quickly: trust policy (service principal), json_response (SSE limitation), URL path (inlineContent JSON). If you build on this pattern, you will hit all three. Now you know where they are.</a:t>
            </a:r>
          </a:p>
          <a:p/>
          <a:p>
            <a:r>
              <a:t>TAKEAWAY 4 — CUSTOM vs NATIVE:</a:t>
            </a:r>
          </a:p>
          <a:p>
            <a:r>
              <a:t>Be honest about what is native vs custom. The mcp_tools: filtering is custom. AgentCore Gateway provides native semantic tool selection if you need it at the execution layer. Neither is better — they solve different problems.</a:t>
            </a:r>
          </a:p>
          <a:p/>
          <a:p>
            <a:r>
              <a:t>FINAL PROMPT:</a:t>
            </a:r>
          </a:p>
          <a:p>
            <a:r>
              <a:t>'What would you add to this registry? What skill would you publish?'</a:t>
            </a:r>
          </a:p>
          <a:p>
            <a:r>
              <a:t>This opens the floor to discussion about real use cases — the answer always illuminates whether the audience understood the composability concept.</a:t>
            </a:r>
          </a:p>
          <a:p/>
          <a:p>
            <a:r>
              <a:t>RESOURCES:</a:t>
            </a:r>
          </a:p>
          <a:p>
            <a:r>
              <a:t>- AWS docs: docs.aws.amazon.com/bedrock-agentcore/latest/devguide/registry.html</a:t>
            </a:r>
          </a:p>
          <a:p>
            <a:r>
              <a:t>- GitHub: github.com/aws-samples/amazon-bedrock-agentcore-samples</a:t>
            </a:r>
          </a:p>
          <a:p>
            <a:r>
              <a:t>- MCP spec: modelcontextprotocol.io/schemas/2025-12-11</a:t>
            </a:r>
          </a:p>
          <a:p>
            <a:r>
              <a:t>- FastMCP docs: github.com/jlowin/fastmcp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54864" cy="6858000"/>
          </a:xfrm>
          <a:prstGeom prst="rect">
            <a:avLst/>
          </a:prstGeom>
          <a:solidFill>
            <a:srgbClr val="FF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10058400" cy="1005840"/>
          </a:xfrm>
          <a:prstGeom prst="rect">
            <a:avLst/>
          </a:prstGeom>
          <a:noFill/>
        </p:spPr>
        <p:txBody>
          <a:bodyPr wrap="square">
            <a:spAutoFit/>
          </a:bodyPr>
          <a:lstStyle/>
          <a:p>
            <a:pPr algn="ctr"/>
            <a:r>
              <a:rPr sz="4800" b="1" i="0">
                <a:solidFill>
                  <a:srgbClr val="FFFFFF"/>
                </a:solidFill>
                <a:latin typeface="Calibri"/>
              </a:rPr>
              <a:t>AWS Agent Registry</a:t>
            </a:r>
          </a:p>
        </p:txBody>
      </p:sp>
      <p:sp>
        <p:nvSpPr>
          <p:cNvPr id="6" name="TextBox 5"/>
          <p:cNvSpPr txBox="1"/>
          <p:nvPr/>
        </p:nvSpPr>
        <p:spPr>
          <a:xfrm>
            <a:off x="1097280" y="2423160"/>
            <a:ext cx="10058400" cy="731520"/>
          </a:xfrm>
          <a:prstGeom prst="rect">
            <a:avLst/>
          </a:prstGeom>
          <a:noFill/>
        </p:spPr>
        <p:txBody>
          <a:bodyPr wrap="square">
            <a:spAutoFit/>
          </a:bodyPr>
          <a:lstStyle/>
          <a:p>
            <a:pPr algn="ctr"/>
            <a:r>
              <a:rPr sz="3600" b="0" i="0">
                <a:solidFill>
                  <a:srgbClr val="00A8E8"/>
                </a:solidFill>
                <a:latin typeface="Calibri"/>
              </a:rPr>
              <a:t>+ Strands Agent</a:t>
            </a:r>
          </a:p>
        </p:txBody>
      </p:sp>
      <p:sp>
        <p:nvSpPr>
          <p:cNvPr id="7" name="TextBox 6"/>
          <p:cNvSpPr txBox="1"/>
          <p:nvPr/>
        </p:nvSpPr>
        <p:spPr>
          <a:xfrm>
            <a:off x="1097280" y="3108960"/>
            <a:ext cx="10058400" cy="640080"/>
          </a:xfrm>
          <a:prstGeom prst="rect">
            <a:avLst/>
          </a:prstGeom>
          <a:noFill/>
        </p:spPr>
        <p:txBody>
          <a:bodyPr wrap="square">
            <a:spAutoFit/>
          </a:bodyPr>
          <a:lstStyle/>
          <a:p>
            <a:pPr algn="ctr"/>
            <a:r>
              <a:rPr sz="2800" b="0" i="0">
                <a:solidFill>
                  <a:srgbClr val="CCD6E0"/>
                </a:solidFill>
                <a:latin typeface="Calibri"/>
              </a:rPr>
              <a:t>Financial Skills Demo</a:t>
            </a:r>
          </a:p>
        </p:txBody>
      </p:sp>
      <p:sp>
        <p:nvSpPr>
          <p:cNvPr id="8" name="Rectangle 7"/>
          <p:cNvSpPr/>
          <p:nvPr/>
        </p:nvSpPr>
        <p:spPr>
          <a:xfrm>
            <a:off x="2743200" y="3886200"/>
            <a:ext cx="6675120" cy="36576"/>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10332720" cy="502920"/>
          </a:xfrm>
          <a:prstGeom prst="rect">
            <a:avLst/>
          </a:prstGeom>
          <a:noFill/>
        </p:spPr>
        <p:txBody>
          <a:bodyPr wrap="square">
            <a:spAutoFit/>
          </a:bodyPr>
          <a:lstStyle/>
          <a:p>
            <a:pPr algn="ctr"/>
            <a:r>
              <a:rPr sz="1600" b="0" i="1">
                <a:solidFill>
                  <a:srgbClr val="667A8C"/>
                </a:solidFill>
                <a:latin typeface="Calibri"/>
              </a:rPr>
              <a:t>Dynamic skill discovery · Registry-driven behavior · Zero hardcoded tools</a:t>
            </a:r>
          </a:p>
        </p:txBody>
      </p:sp>
      <p:sp>
        <p:nvSpPr>
          <p:cNvPr id="10" name="TextBox 9"/>
          <p:cNvSpPr txBox="1"/>
          <p:nvPr/>
        </p:nvSpPr>
        <p:spPr>
          <a:xfrm>
            <a:off x="914400" y="6126480"/>
            <a:ext cx="10332720" cy="457200"/>
          </a:xfrm>
          <a:prstGeom prst="rect">
            <a:avLst/>
          </a:prstGeom>
          <a:noFill/>
        </p:spPr>
        <p:txBody>
          <a:bodyPr wrap="square">
            <a:spAutoFit/>
          </a:bodyPr>
          <a:lstStyle/>
          <a:p>
            <a:pPr algn="ctr"/>
            <a:r>
              <a:rPr sz="1300" b="0" i="0">
                <a:solidFill>
                  <a:srgbClr val="667A8C"/>
                </a:solidFill>
                <a:latin typeface="Calibri"/>
              </a:rPr>
              <a:t>AWS Agent Registry  |  AWS Fargate  |  FastMCP  |  Strands SDK  |  Amazon Bedrock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What We're Showing</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The core thesis in one sentence</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TextBox 7"/>
          <p:cNvSpPr txBox="1"/>
          <p:nvPr/>
        </p:nvSpPr>
        <p:spPr>
          <a:xfrm>
            <a:off x="457200" y="1417320"/>
            <a:ext cx="11247120" cy="685800"/>
          </a:xfrm>
          <a:prstGeom prst="rect">
            <a:avLst/>
          </a:prstGeom>
          <a:noFill/>
        </p:spPr>
        <p:txBody>
          <a:bodyPr wrap="square">
            <a:spAutoFit/>
          </a:bodyPr>
          <a:lstStyle/>
          <a:p>
            <a:pPr algn="l"/>
            <a:r>
              <a:rPr sz="2200" b="1" i="0">
                <a:solidFill>
                  <a:srgbClr val="FF9A00"/>
                </a:solidFill>
                <a:latin typeface="Calibri"/>
              </a:rPr>
              <a:t>A production Strands agent on ECS Fargate with no hardcoded skills or tools.</a:t>
            </a:r>
          </a:p>
        </p:txBody>
      </p:sp>
      <p:sp>
        <p:nvSpPr>
          <p:cNvPr id="9" name="TextBox 8"/>
          <p:cNvSpPr txBox="1"/>
          <p:nvPr/>
        </p:nvSpPr>
        <p:spPr>
          <a:xfrm>
            <a:off x="457200" y="2148840"/>
            <a:ext cx="10972800" cy="411480"/>
          </a:xfrm>
          <a:prstGeom prst="rect">
            <a:avLst/>
          </a:prstGeom>
          <a:noFill/>
        </p:spPr>
        <p:txBody>
          <a:bodyPr wrap="square">
            <a:spAutoFit/>
          </a:bodyPr>
          <a:lstStyle/>
          <a:p>
            <a:pPr algn="l"/>
            <a:r>
              <a:rPr sz="1700" b="0" i="0">
                <a:solidFill>
                  <a:srgbClr val="CCD6E0"/>
                </a:solidFill>
                <a:latin typeface="Calibri"/>
              </a:rPr>
              <a:t>Every request follows the same pattern:</a:t>
            </a:r>
          </a:p>
        </p:txBody>
      </p:sp>
      <p:sp>
        <p:nvSpPr>
          <p:cNvPr id="10" name="TextBox 9"/>
          <p:cNvSpPr txBox="1"/>
          <p:nvPr/>
        </p:nvSpPr>
        <p:spPr>
          <a:xfrm>
            <a:off x="640080" y="2606040"/>
            <a:ext cx="10515600" cy="438912"/>
          </a:xfrm>
          <a:prstGeom prst="rect">
            <a:avLst/>
          </a:prstGeom>
          <a:noFill/>
        </p:spPr>
        <p:txBody>
          <a:bodyPr wrap="square">
            <a:spAutoFit/>
          </a:bodyPr>
          <a:lstStyle/>
          <a:p>
            <a:pPr algn="l"/>
            <a:r>
              <a:rPr sz="1800" b="0" i="0">
                <a:solidFill>
                  <a:srgbClr val="FFFFFF"/>
                </a:solidFill>
                <a:latin typeface="Calibri"/>
              </a:rPr>
              <a:t>1.  Query the AWS Agent Registry with the user's message</a:t>
            </a:r>
          </a:p>
        </p:txBody>
      </p:sp>
      <p:sp>
        <p:nvSpPr>
          <p:cNvPr id="11" name="TextBox 10"/>
          <p:cNvSpPr txBox="1"/>
          <p:nvPr/>
        </p:nvSpPr>
        <p:spPr>
          <a:xfrm>
            <a:off x="640080" y="3044952"/>
            <a:ext cx="10515600" cy="438912"/>
          </a:xfrm>
          <a:prstGeom prst="rect">
            <a:avLst/>
          </a:prstGeom>
          <a:noFill/>
        </p:spPr>
        <p:txBody>
          <a:bodyPr wrap="square">
            <a:spAutoFit/>
          </a:bodyPr>
          <a:lstStyle/>
          <a:p>
            <a:pPr algn="l"/>
            <a:r>
              <a:rPr sz="1800" b="0" i="0">
                <a:solidFill>
                  <a:srgbClr val="FFFFFF"/>
                </a:solidFill>
                <a:latin typeface="Calibri"/>
              </a:rPr>
              <a:t>2.  Read the matching SKILL.md from the top result</a:t>
            </a:r>
          </a:p>
        </p:txBody>
      </p:sp>
      <p:sp>
        <p:nvSpPr>
          <p:cNvPr id="12" name="TextBox 11"/>
          <p:cNvSpPr txBox="1"/>
          <p:nvPr/>
        </p:nvSpPr>
        <p:spPr>
          <a:xfrm>
            <a:off x="640080" y="3483864"/>
            <a:ext cx="10515600" cy="438912"/>
          </a:xfrm>
          <a:prstGeom prst="rect">
            <a:avLst/>
          </a:prstGeom>
          <a:noFill/>
        </p:spPr>
        <p:txBody>
          <a:bodyPr wrap="square">
            <a:spAutoFit/>
          </a:bodyPr>
          <a:lstStyle/>
          <a:p>
            <a:pPr algn="l"/>
            <a:r>
              <a:rPr sz="1800" b="0" i="0">
                <a:solidFill>
                  <a:srgbClr val="FFFFFF"/>
                </a:solidFill>
                <a:latin typeface="Calibri"/>
              </a:rPr>
              <a:t>3.  Load only the MCP tools that skill declares in its frontmatter</a:t>
            </a:r>
          </a:p>
        </p:txBody>
      </p:sp>
      <p:sp>
        <p:nvSpPr>
          <p:cNvPr id="13" name="TextBox 12"/>
          <p:cNvSpPr txBox="1"/>
          <p:nvPr/>
        </p:nvSpPr>
        <p:spPr>
          <a:xfrm>
            <a:off x="640080" y="3922776"/>
            <a:ext cx="10515600" cy="438912"/>
          </a:xfrm>
          <a:prstGeom prst="rect">
            <a:avLst/>
          </a:prstGeom>
          <a:noFill/>
        </p:spPr>
        <p:txBody>
          <a:bodyPr wrap="square">
            <a:spAutoFit/>
          </a:bodyPr>
          <a:lstStyle/>
          <a:p>
            <a:pPr algn="l"/>
            <a:r>
              <a:rPr sz="1800" b="0" i="0">
                <a:solidFill>
                  <a:srgbClr val="FFFFFF"/>
                </a:solidFill>
                <a:latin typeface="Calibri"/>
              </a:rPr>
              <a:t>4.  Follow the SKILL.md procedure step-by-step → produce the answer</a:t>
            </a:r>
          </a:p>
        </p:txBody>
      </p:sp>
      <p:sp>
        <p:nvSpPr>
          <p:cNvPr id="14" name="Rectangle 13"/>
          <p:cNvSpPr/>
          <p:nvPr/>
        </p:nvSpPr>
        <p:spPr>
          <a:xfrm>
            <a:off x="457200" y="4663440"/>
            <a:ext cx="11247120" cy="146304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754880"/>
            <a:ext cx="10881360" cy="1234440"/>
          </a:xfrm>
          <a:prstGeom prst="rect">
            <a:avLst/>
          </a:prstGeom>
          <a:noFill/>
        </p:spPr>
        <p:txBody>
          <a:bodyPr wrap="square">
            <a:spAutoFit/>
          </a:bodyPr>
          <a:lstStyle/>
          <a:p>
            <a:pPr algn="l"/>
            <a:r>
              <a:rPr sz="1600" b="0" i="1">
                <a:solidFill>
                  <a:srgbClr val="CCD6E0"/>
                </a:solidFill>
                <a:latin typeface="Calibri"/>
              </a:rPr>
              <a:t>The financial analysis is incidental. The demo is about composability: adding a new skill requires no code changes to the agent — just publish a new AGENT_SKILLS record to the registry.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AWS Agent Registry — Core Concept</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A unified, searchable catalog for agent capabilities</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371600"/>
            <a:ext cx="5394960" cy="502920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5029200" cy="457200"/>
          </a:xfrm>
          <a:prstGeom prst="rect">
            <a:avLst/>
          </a:prstGeom>
          <a:noFill/>
        </p:spPr>
        <p:txBody>
          <a:bodyPr wrap="square">
            <a:spAutoFit/>
          </a:bodyPr>
          <a:lstStyle/>
          <a:p>
            <a:pPr algn="l"/>
            <a:r>
              <a:rPr sz="1800" b="1" i="0">
                <a:solidFill>
                  <a:srgbClr val="00A8E8"/>
                </a:solidFill>
                <a:latin typeface="Calibri"/>
              </a:rPr>
              <a:t>What It Is</a:t>
            </a:r>
          </a:p>
        </p:txBody>
      </p:sp>
      <p:sp>
        <p:nvSpPr>
          <p:cNvPr id="10" name="TextBox 9"/>
          <p:cNvSpPr txBox="1"/>
          <p:nvPr/>
        </p:nvSpPr>
        <p:spPr>
          <a:xfrm>
            <a:off x="457200" y="1965960"/>
            <a:ext cx="5120640" cy="384048"/>
          </a:xfrm>
          <a:prstGeom prst="rect">
            <a:avLst/>
          </a:prstGeom>
          <a:noFill/>
        </p:spPr>
        <p:txBody>
          <a:bodyPr wrap="square">
            <a:spAutoFit/>
          </a:bodyPr>
          <a:lstStyle/>
          <a:p>
            <a:pPr algn="l"/>
            <a:r>
              <a:rPr sz="1350" b="0" i="0">
                <a:solidFill>
                  <a:srgbClr val="CCD6E0"/>
                </a:solidFill>
                <a:latin typeface="Calibri"/>
              </a:rPr>
              <a:t>• Unified catalog: skills, MCP servers, agents</a:t>
            </a:r>
          </a:p>
        </p:txBody>
      </p:sp>
      <p:sp>
        <p:nvSpPr>
          <p:cNvPr id="11" name="TextBox 10"/>
          <p:cNvSpPr txBox="1"/>
          <p:nvPr/>
        </p:nvSpPr>
        <p:spPr>
          <a:xfrm>
            <a:off x="457200" y="2322576"/>
            <a:ext cx="5120640" cy="384048"/>
          </a:xfrm>
          <a:prstGeom prst="rect">
            <a:avLst/>
          </a:prstGeom>
          <a:noFill/>
        </p:spPr>
        <p:txBody>
          <a:bodyPr wrap="square">
            <a:spAutoFit/>
          </a:bodyPr>
          <a:lstStyle/>
          <a:p>
            <a:pPr algn="l"/>
            <a:r>
              <a:rPr sz="1350" b="0" i="0">
                <a:solidFill>
                  <a:srgbClr val="CCD6E0"/>
                </a:solidFill>
                <a:latin typeface="Calibri"/>
              </a:rPr>
              <a:t>• Single semantic search API across all types</a:t>
            </a:r>
          </a:p>
        </p:txBody>
      </p:sp>
      <p:sp>
        <p:nvSpPr>
          <p:cNvPr id="12" name="TextBox 11"/>
          <p:cNvSpPr txBox="1"/>
          <p:nvPr/>
        </p:nvSpPr>
        <p:spPr>
          <a:xfrm>
            <a:off x="457200" y="2679192"/>
            <a:ext cx="5120640" cy="384048"/>
          </a:xfrm>
          <a:prstGeom prst="rect">
            <a:avLst/>
          </a:prstGeom>
          <a:noFill/>
        </p:spPr>
        <p:txBody>
          <a:bodyPr wrap="square">
            <a:spAutoFit/>
          </a:bodyPr>
          <a:lstStyle/>
          <a:p>
            <a:pPr algn="l"/>
            <a:r>
              <a:rPr sz="1350" b="0" i="0">
                <a:solidFill>
                  <a:srgbClr val="CCD6E0"/>
                </a:solidFill>
                <a:latin typeface="Calibri"/>
              </a:rPr>
              <a:t>• Agent calls search_registry_records(query)</a:t>
            </a:r>
          </a:p>
        </p:txBody>
      </p:sp>
      <p:sp>
        <p:nvSpPr>
          <p:cNvPr id="13" name="TextBox 12"/>
          <p:cNvSpPr txBox="1"/>
          <p:nvPr/>
        </p:nvSpPr>
        <p:spPr>
          <a:xfrm>
            <a:off x="457200" y="3035808"/>
            <a:ext cx="5120640" cy="384048"/>
          </a:xfrm>
          <a:prstGeom prst="rect">
            <a:avLst/>
          </a:prstGeom>
          <a:noFill/>
        </p:spPr>
        <p:txBody>
          <a:bodyPr wrap="square">
            <a:spAutoFit/>
          </a:bodyPr>
          <a:lstStyle/>
          <a:p>
            <a:pPr algn="l"/>
            <a:r>
              <a:rPr sz="1350" b="0" i="0">
                <a:solidFill>
                  <a:srgbClr val="CCD6E0"/>
                </a:solidFill>
                <a:latin typeface="Calibri"/>
              </a:rPr>
              <a:t>• Returns ranked list — all record types together</a:t>
            </a:r>
          </a:p>
        </p:txBody>
      </p:sp>
      <p:sp>
        <p:nvSpPr>
          <p:cNvPr id="14" name="TextBox 13"/>
          <p:cNvSpPr txBox="1"/>
          <p:nvPr/>
        </p:nvSpPr>
        <p:spPr>
          <a:xfrm>
            <a:off x="457200" y="3392424"/>
            <a:ext cx="5120640" cy="384048"/>
          </a:xfrm>
          <a:prstGeom prst="rect">
            <a:avLst/>
          </a:prstGeom>
          <a:noFill/>
        </p:spPr>
        <p:txBody>
          <a:bodyPr wrap="square">
            <a:spAutoFit/>
          </a:bodyPr>
          <a:lstStyle/>
          <a:p>
            <a:pPr algn="l"/>
            <a:r>
              <a:rPr sz="1350" b="0" i="0">
                <a:solidFill>
                  <a:srgbClr val="CCD6E0"/>
                </a:solidFill>
                <a:latin typeface="Calibri"/>
              </a:rPr>
              <a:t>• Registry = control plane for agent behavior</a:t>
            </a:r>
          </a:p>
        </p:txBody>
      </p:sp>
      <p:sp>
        <p:nvSpPr>
          <p:cNvPr id="15" name="TextBox 14"/>
          <p:cNvSpPr txBox="1"/>
          <p:nvPr/>
        </p:nvSpPr>
        <p:spPr>
          <a:xfrm>
            <a:off x="457200" y="3749040"/>
            <a:ext cx="5120640" cy="384048"/>
          </a:xfrm>
          <a:prstGeom prst="rect">
            <a:avLst/>
          </a:prstGeom>
          <a:noFill/>
        </p:spPr>
        <p:txBody>
          <a:bodyPr wrap="square">
            <a:spAutoFit/>
          </a:bodyPr>
          <a:lstStyle/>
          <a:p>
            <a:pPr algn="l"/>
            <a:r>
              <a:rPr sz="1350" b="0" i="0">
                <a:solidFill>
                  <a:srgbClr val="CCD6E0"/>
                </a:solidFill>
                <a:latin typeface="Calibri"/>
              </a:rPr>
              <a:t>• Agent = generic executor (no domain logic)</a:t>
            </a:r>
          </a:p>
        </p:txBody>
      </p:sp>
      <p:sp>
        <p:nvSpPr>
          <p:cNvPr id="16" name="TextBox 15"/>
          <p:cNvSpPr txBox="1"/>
          <p:nvPr/>
        </p:nvSpPr>
        <p:spPr>
          <a:xfrm>
            <a:off x="457200" y="4105656"/>
            <a:ext cx="5120640" cy="384048"/>
          </a:xfrm>
          <a:prstGeom prst="rect">
            <a:avLst/>
          </a:prstGeom>
          <a:noFill/>
        </p:spPr>
        <p:txBody>
          <a:bodyPr wrap="square">
            <a:spAutoFit/>
          </a:bodyPr>
          <a:lstStyle/>
          <a:p>
            <a:pPr algn="l"/>
            <a:r>
              <a:rPr sz="1350" b="0" i="0">
                <a:solidFill>
                  <a:srgbClr val="CCD6E0"/>
                </a:solidFill>
                <a:latin typeface="Calibri"/>
              </a:rPr>
              <a:t>• Discovery is always query-driven, per-request</a:t>
            </a:r>
          </a:p>
        </p:txBody>
      </p:sp>
      <p:sp>
        <p:nvSpPr>
          <p:cNvPr id="17" name="TextBox 16"/>
          <p:cNvSpPr txBox="1"/>
          <p:nvPr/>
        </p:nvSpPr>
        <p:spPr>
          <a:xfrm>
            <a:off x="457200" y="4462272"/>
            <a:ext cx="5120640" cy="384048"/>
          </a:xfrm>
          <a:prstGeom prst="rect">
            <a:avLst/>
          </a:prstGeom>
          <a:noFill/>
        </p:spPr>
        <p:txBody>
          <a:bodyPr wrap="square">
            <a:spAutoFit/>
          </a:bodyPr>
          <a:lstStyle/>
          <a:p>
            <a:pPr algn="l"/>
            <a:r>
              <a:rPr sz="1350" b="0" i="0">
                <a:solidFill>
                  <a:srgbClr val="CCD6E0"/>
                </a:solidFill>
                <a:latin typeface="Calibri"/>
              </a:rPr>
              <a:t>• No 'enumerate all skills' API — by design</a:t>
            </a:r>
          </a:p>
        </p:txBody>
      </p:sp>
      <p:sp>
        <p:nvSpPr>
          <p:cNvPr id="18" name="Rectangle 17"/>
          <p:cNvSpPr/>
          <p:nvPr/>
        </p:nvSpPr>
        <p:spPr>
          <a:xfrm>
            <a:off x="5943600" y="1371600"/>
            <a:ext cx="5943600" cy="228600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63040"/>
            <a:ext cx="5577840" cy="411480"/>
          </a:xfrm>
          <a:prstGeom prst="rect">
            <a:avLst/>
          </a:prstGeom>
          <a:noFill/>
        </p:spPr>
        <p:txBody>
          <a:bodyPr wrap="square">
            <a:spAutoFit/>
          </a:bodyPr>
          <a:lstStyle/>
          <a:p>
            <a:pPr algn="l"/>
            <a:r>
              <a:rPr sz="1600" b="1" i="0">
                <a:solidFill>
                  <a:srgbClr val="FF9A00"/>
                </a:solidFill>
                <a:latin typeface="Calibri"/>
              </a:rPr>
              <a:t>AGENT_SKILLS Record</a:t>
            </a:r>
          </a:p>
        </p:txBody>
      </p:sp>
      <p:sp>
        <p:nvSpPr>
          <p:cNvPr id="20" name="TextBox 19"/>
          <p:cNvSpPr txBox="1"/>
          <p:nvPr/>
        </p:nvSpPr>
        <p:spPr>
          <a:xfrm>
            <a:off x="6126480" y="1920240"/>
            <a:ext cx="5577840" cy="365760"/>
          </a:xfrm>
          <a:prstGeom prst="rect">
            <a:avLst/>
          </a:prstGeom>
          <a:noFill/>
        </p:spPr>
        <p:txBody>
          <a:bodyPr wrap="square">
            <a:spAutoFit/>
          </a:bodyPr>
          <a:lstStyle/>
          <a:p>
            <a:pPr algn="l"/>
            <a:r>
              <a:rPr sz="1300" b="0" i="0">
                <a:solidFill>
                  <a:srgbClr val="CCD6E0"/>
                </a:solidFill>
                <a:latin typeface="Calibri"/>
              </a:rPr>
              <a:t>• Stores SKILL.md (YAML frontmatter + procedure)</a:t>
            </a:r>
          </a:p>
        </p:txBody>
      </p:sp>
      <p:sp>
        <p:nvSpPr>
          <p:cNvPr id="21" name="TextBox 20"/>
          <p:cNvSpPr txBox="1"/>
          <p:nvPr/>
        </p:nvSpPr>
        <p:spPr>
          <a:xfrm>
            <a:off x="6126480" y="2258568"/>
            <a:ext cx="5577840" cy="365760"/>
          </a:xfrm>
          <a:prstGeom prst="rect">
            <a:avLst/>
          </a:prstGeom>
          <a:noFill/>
        </p:spPr>
        <p:txBody>
          <a:bodyPr wrap="square">
            <a:spAutoFit/>
          </a:bodyPr>
          <a:lstStyle/>
          <a:p>
            <a:pPr algn="l"/>
            <a:r>
              <a:rPr sz="1300" b="0" i="0">
                <a:solidFill>
                  <a:srgbClr val="CCD6E0"/>
                </a:solidFill>
                <a:latin typeface="Calibri"/>
              </a:rPr>
              <a:t>• Frontmatter: name, description, mcp_tools list</a:t>
            </a:r>
          </a:p>
        </p:txBody>
      </p:sp>
      <p:sp>
        <p:nvSpPr>
          <p:cNvPr id="22" name="TextBox 21"/>
          <p:cNvSpPr txBox="1"/>
          <p:nvPr/>
        </p:nvSpPr>
        <p:spPr>
          <a:xfrm>
            <a:off x="6126480" y="2596896"/>
            <a:ext cx="5577840" cy="365760"/>
          </a:xfrm>
          <a:prstGeom prst="rect">
            <a:avLst/>
          </a:prstGeom>
          <a:noFill/>
        </p:spPr>
        <p:txBody>
          <a:bodyPr wrap="square">
            <a:spAutoFit/>
          </a:bodyPr>
          <a:lstStyle/>
          <a:p>
            <a:pPr algn="l"/>
            <a:r>
              <a:rPr sz="1300" b="0" i="0">
                <a:solidFill>
                  <a:srgbClr val="CCD6E0"/>
                </a:solidFill>
                <a:latin typeface="Calibri"/>
              </a:rPr>
              <a:t>• Body: step-by-step instructions the agent follows</a:t>
            </a:r>
          </a:p>
        </p:txBody>
      </p:sp>
      <p:sp>
        <p:nvSpPr>
          <p:cNvPr id="23" name="TextBox 22"/>
          <p:cNvSpPr txBox="1"/>
          <p:nvPr/>
        </p:nvSpPr>
        <p:spPr>
          <a:xfrm>
            <a:off x="6126480" y="2935224"/>
            <a:ext cx="5577840" cy="365760"/>
          </a:xfrm>
          <a:prstGeom prst="rect">
            <a:avLst/>
          </a:prstGeom>
          <a:noFill/>
        </p:spPr>
        <p:txBody>
          <a:bodyPr wrap="square">
            <a:spAutoFit/>
          </a:bodyPr>
          <a:lstStyle/>
          <a:p>
            <a:pPr algn="l"/>
            <a:r>
              <a:rPr sz="1300" b="0" i="0">
                <a:solidFill>
                  <a:srgbClr val="CCD6E0"/>
                </a:solidFill>
                <a:latin typeface="Calibri"/>
              </a:rPr>
              <a:t>• Searchable by semantic similarity to user query</a:t>
            </a:r>
          </a:p>
        </p:txBody>
      </p:sp>
      <p:sp>
        <p:nvSpPr>
          <p:cNvPr id="24" name="Rectangle 23"/>
          <p:cNvSpPr/>
          <p:nvPr/>
        </p:nvSpPr>
        <p:spPr>
          <a:xfrm>
            <a:off x="5943600" y="3840480"/>
            <a:ext cx="5943600" cy="237744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3931920"/>
            <a:ext cx="5577840" cy="411480"/>
          </a:xfrm>
          <a:prstGeom prst="rect">
            <a:avLst/>
          </a:prstGeom>
          <a:noFill/>
        </p:spPr>
        <p:txBody>
          <a:bodyPr wrap="square">
            <a:spAutoFit/>
          </a:bodyPr>
          <a:lstStyle/>
          <a:p>
            <a:pPr algn="l"/>
            <a:r>
              <a:rPr sz="1600" b="1" i="0">
                <a:solidFill>
                  <a:srgbClr val="00C47F"/>
                </a:solidFill>
                <a:latin typeface="Calibri"/>
              </a:rPr>
              <a:t>MCP Record</a:t>
            </a:r>
          </a:p>
        </p:txBody>
      </p:sp>
      <p:sp>
        <p:nvSpPr>
          <p:cNvPr id="26" name="TextBox 25"/>
          <p:cNvSpPr txBox="1"/>
          <p:nvPr/>
        </p:nvSpPr>
        <p:spPr>
          <a:xfrm>
            <a:off x="6126480" y="4343400"/>
            <a:ext cx="5577840" cy="365760"/>
          </a:xfrm>
          <a:prstGeom prst="rect">
            <a:avLst/>
          </a:prstGeom>
          <a:noFill/>
        </p:spPr>
        <p:txBody>
          <a:bodyPr wrap="square">
            <a:spAutoFit/>
          </a:bodyPr>
          <a:lstStyle/>
          <a:p>
            <a:pPr algn="l"/>
            <a:r>
              <a:rPr sz="1300" b="0" i="0">
                <a:solidFill>
                  <a:srgbClr val="CCD6E0"/>
                </a:solidFill>
                <a:latin typeface="Calibri"/>
              </a:rPr>
              <a:t>• Describes an MCP server's capabilities</a:t>
            </a:r>
          </a:p>
        </p:txBody>
      </p:sp>
      <p:sp>
        <p:nvSpPr>
          <p:cNvPr id="27" name="TextBox 26"/>
          <p:cNvSpPr txBox="1"/>
          <p:nvPr/>
        </p:nvSpPr>
        <p:spPr>
          <a:xfrm>
            <a:off x="6126480" y="4681728"/>
            <a:ext cx="5577840" cy="365760"/>
          </a:xfrm>
          <a:prstGeom prst="rect">
            <a:avLst/>
          </a:prstGeom>
          <a:noFill/>
        </p:spPr>
        <p:txBody>
          <a:bodyPr wrap="square">
            <a:spAutoFit/>
          </a:bodyPr>
          <a:lstStyle/>
          <a:p>
            <a:pPr algn="l"/>
            <a:r>
              <a:rPr sz="1300" b="0" i="0">
                <a:solidFill>
                  <a:srgbClr val="CCD6E0"/>
                </a:solidFill>
                <a:latin typeface="Calibri"/>
              </a:rPr>
              <a:t>• Registry crawls server at registration time</a:t>
            </a:r>
          </a:p>
        </p:txBody>
      </p:sp>
      <p:sp>
        <p:nvSpPr>
          <p:cNvPr id="28" name="TextBox 27"/>
          <p:cNvSpPr txBox="1"/>
          <p:nvPr/>
        </p:nvSpPr>
        <p:spPr>
          <a:xfrm>
            <a:off x="6126480" y="5020056"/>
            <a:ext cx="5577840" cy="365760"/>
          </a:xfrm>
          <a:prstGeom prst="rect">
            <a:avLst/>
          </a:prstGeom>
          <a:noFill/>
        </p:spPr>
        <p:txBody>
          <a:bodyPr wrap="square">
            <a:spAutoFit/>
          </a:bodyPr>
          <a:lstStyle/>
          <a:p>
            <a:pPr algn="l"/>
            <a:r>
              <a:rPr sz="1300" b="0" i="0">
                <a:solidFill>
                  <a:srgbClr val="CCD6E0"/>
                </a:solidFill>
                <a:latin typeface="Calibri"/>
              </a:rPr>
              <a:t>• Stores tool schemas inline (synchronizationType=URL)</a:t>
            </a:r>
          </a:p>
        </p:txBody>
      </p:sp>
      <p:sp>
        <p:nvSpPr>
          <p:cNvPr id="29" name="TextBox 28"/>
          <p:cNvSpPr txBox="1"/>
          <p:nvPr/>
        </p:nvSpPr>
        <p:spPr>
          <a:xfrm>
            <a:off x="6126480" y="5358384"/>
            <a:ext cx="5577840" cy="365760"/>
          </a:xfrm>
          <a:prstGeom prst="rect">
            <a:avLst/>
          </a:prstGeom>
          <a:noFill/>
        </p:spPr>
        <p:txBody>
          <a:bodyPr wrap="square">
            <a:spAutoFit/>
          </a:bodyPr>
          <a:lstStyle/>
          <a:p>
            <a:pPr algn="l"/>
            <a:r>
              <a:rPr sz="1300" b="0" i="0">
                <a:solidFill>
                  <a:srgbClr val="CCD6E0"/>
                </a:solidFill>
                <a:latin typeface="Calibri"/>
              </a:rPr>
              <a:t>• Stores server URL in descriptors.mcp.server.inlineContent</a:t>
            </a:r>
          </a:p>
        </p:txBody>
      </p:sp>
      <p:sp>
        <p:nvSpPr>
          <p:cNvPr id="30" name="TextBox 29"/>
          <p:cNvSpPr txBox="1"/>
          <p:nvPr/>
        </p:nvSpPr>
        <p:spPr>
          <a:xfrm>
            <a:off x="6126480" y="5696712"/>
            <a:ext cx="5577840" cy="365760"/>
          </a:xfrm>
          <a:prstGeom prst="rect">
            <a:avLst/>
          </a:prstGeom>
          <a:noFill/>
        </p:spPr>
        <p:txBody>
          <a:bodyPr wrap="square">
            <a:spAutoFit/>
          </a:bodyPr>
          <a:lstStyle/>
          <a:p>
            <a:pPr algn="l"/>
            <a:r>
              <a:rPr sz="1300" b="0" i="0">
                <a:solidFill>
                  <a:srgbClr val="CCD6E0"/>
                </a:solidFill>
                <a:latin typeface="Calibri"/>
              </a:rPr>
              <a:t>• Agent reads URL from record at startup — no SSM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What's in the Registry</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6 approved records — 1 MCP + 5 AGENT_SKILLS</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417320"/>
            <a:ext cx="2880360" cy="384048"/>
          </a:xfrm>
          <a:prstGeom prst="rect">
            <a:avLst/>
          </a:prstGeom>
          <a:solidFill>
            <a:srgbClr val="006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63040"/>
            <a:ext cx="2743200" cy="320040"/>
          </a:xfrm>
          <a:prstGeom prst="rect">
            <a:avLst/>
          </a:prstGeom>
          <a:noFill/>
        </p:spPr>
        <p:txBody>
          <a:bodyPr wrap="square">
            <a:spAutoFit/>
          </a:bodyPr>
          <a:lstStyle/>
          <a:p>
            <a:pPr algn="l"/>
            <a:r>
              <a:rPr sz="1400" b="1" i="0">
                <a:solidFill>
                  <a:srgbClr val="FFFFFF"/>
                </a:solidFill>
                <a:latin typeface="Calibri"/>
              </a:rPr>
              <a:t>Record Name</a:t>
            </a:r>
          </a:p>
        </p:txBody>
      </p:sp>
      <p:sp>
        <p:nvSpPr>
          <p:cNvPr id="10" name="Rectangle 9"/>
          <p:cNvSpPr/>
          <p:nvPr/>
        </p:nvSpPr>
        <p:spPr>
          <a:xfrm>
            <a:off x="3246120" y="1417320"/>
            <a:ext cx="1600200" cy="384048"/>
          </a:xfrm>
          <a:prstGeom prst="rect">
            <a:avLst/>
          </a:prstGeom>
          <a:solidFill>
            <a:srgbClr val="006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463040"/>
            <a:ext cx="1463040" cy="320040"/>
          </a:xfrm>
          <a:prstGeom prst="rect">
            <a:avLst/>
          </a:prstGeom>
          <a:noFill/>
        </p:spPr>
        <p:txBody>
          <a:bodyPr wrap="square">
            <a:spAutoFit/>
          </a:bodyPr>
          <a:lstStyle/>
          <a:p>
            <a:pPr algn="l"/>
            <a:r>
              <a:rPr sz="1400" b="1" i="0">
                <a:solidFill>
                  <a:srgbClr val="FFFFFF"/>
                </a:solidFill>
                <a:latin typeface="Calibri"/>
              </a:rPr>
              <a:t>Type</a:t>
            </a:r>
          </a:p>
        </p:txBody>
      </p:sp>
      <p:sp>
        <p:nvSpPr>
          <p:cNvPr id="12" name="Rectangle 11"/>
          <p:cNvSpPr/>
          <p:nvPr/>
        </p:nvSpPr>
        <p:spPr>
          <a:xfrm>
            <a:off x="4937760" y="1417320"/>
            <a:ext cx="6812280" cy="384048"/>
          </a:xfrm>
          <a:prstGeom prst="rect">
            <a:avLst/>
          </a:prstGeom>
          <a:solidFill>
            <a:srgbClr val="006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463040"/>
            <a:ext cx="6675120" cy="320040"/>
          </a:xfrm>
          <a:prstGeom prst="rect">
            <a:avLst/>
          </a:prstGeom>
          <a:noFill/>
        </p:spPr>
        <p:txBody>
          <a:bodyPr wrap="square">
            <a:spAutoFit/>
          </a:bodyPr>
          <a:lstStyle/>
          <a:p>
            <a:pPr algn="l"/>
            <a:r>
              <a:rPr sz="1400" b="1" i="0">
                <a:solidFill>
                  <a:srgbClr val="FFFFFF"/>
                </a:solidFill>
                <a:latin typeface="Calibri"/>
              </a:rPr>
              <a:t>Description / Purpose</a:t>
            </a:r>
          </a:p>
        </p:txBody>
      </p:sp>
      <p:sp>
        <p:nvSpPr>
          <p:cNvPr id="14" name="Rectangle 13"/>
          <p:cNvSpPr/>
          <p:nvPr/>
        </p:nvSpPr>
        <p:spPr>
          <a:xfrm>
            <a:off x="274320" y="1828800"/>
            <a:ext cx="288036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6120" y="1828800"/>
            <a:ext cx="160020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0" y="1828800"/>
            <a:ext cx="681228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01952"/>
            <a:ext cx="2743200" cy="548640"/>
          </a:xfrm>
          <a:prstGeom prst="rect">
            <a:avLst/>
          </a:prstGeom>
          <a:noFill/>
        </p:spPr>
        <p:txBody>
          <a:bodyPr wrap="square">
            <a:spAutoFit/>
          </a:bodyPr>
          <a:lstStyle/>
          <a:p>
            <a:pPr algn="l"/>
            <a:r>
              <a:rPr sz="1300" b="0" i="0">
                <a:solidFill>
                  <a:srgbClr val="CCD6E0"/>
                </a:solidFill>
                <a:latin typeface="Calibri"/>
              </a:rPr>
              <a:t>financial-tools-mcp</a:t>
            </a:r>
          </a:p>
        </p:txBody>
      </p:sp>
      <p:sp>
        <p:nvSpPr>
          <p:cNvPr id="18" name="TextBox 17"/>
          <p:cNvSpPr txBox="1"/>
          <p:nvPr/>
        </p:nvSpPr>
        <p:spPr>
          <a:xfrm>
            <a:off x="3337560" y="1901952"/>
            <a:ext cx="1463040" cy="548640"/>
          </a:xfrm>
          <a:prstGeom prst="rect">
            <a:avLst/>
          </a:prstGeom>
          <a:noFill/>
        </p:spPr>
        <p:txBody>
          <a:bodyPr wrap="square">
            <a:spAutoFit/>
          </a:bodyPr>
          <a:lstStyle/>
          <a:p>
            <a:pPr algn="l"/>
            <a:r>
              <a:rPr sz="1300" b="0" i="0">
                <a:solidFill>
                  <a:srgbClr val="00C47F"/>
                </a:solidFill>
                <a:latin typeface="Calibri"/>
              </a:rPr>
              <a:t>MCP</a:t>
            </a:r>
          </a:p>
        </p:txBody>
      </p:sp>
      <p:sp>
        <p:nvSpPr>
          <p:cNvPr id="19" name="TextBox 18"/>
          <p:cNvSpPr txBox="1"/>
          <p:nvPr/>
        </p:nvSpPr>
        <p:spPr>
          <a:xfrm>
            <a:off x="5029200" y="1901952"/>
            <a:ext cx="6675120" cy="548640"/>
          </a:xfrm>
          <a:prstGeom prst="rect">
            <a:avLst/>
          </a:prstGeom>
          <a:noFill/>
        </p:spPr>
        <p:txBody>
          <a:bodyPr wrap="square">
            <a:spAutoFit/>
          </a:bodyPr>
          <a:lstStyle/>
          <a:p>
            <a:pPr algn="l"/>
            <a:r>
              <a:rPr sz="1300" b="0" i="0">
                <a:solidFill>
                  <a:srgbClr val="CCD6E0"/>
                </a:solidFill>
                <a:latin typeface="Calibri"/>
              </a:rPr>
              <a:t>Tools: get_financial_data, get_kpi_benchmarks. Crawled via URL-sync with IAM SigV4.</a:t>
            </a:r>
          </a:p>
        </p:txBody>
      </p:sp>
      <p:sp>
        <p:nvSpPr>
          <p:cNvPr id="20" name="Rectangle 19"/>
          <p:cNvSpPr/>
          <p:nvPr/>
        </p:nvSpPr>
        <p:spPr>
          <a:xfrm>
            <a:off x="274320" y="2542032"/>
            <a:ext cx="288036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6120" y="2542032"/>
            <a:ext cx="160020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0" y="2542032"/>
            <a:ext cx="681228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615184"/>
            <a:ext cx="2743200" cy="548640"/>
          </a:xfrm>
          <a:prstGeom prst="rect">
            <a:avLst/>
          </a:prstGeom>
          <a:noFill/>
        </p:spPr>
        <p:txBody>
          <a:bodyPr wrap="square">
            <a:spAutoFit/>
          </a:bodyPr>
          <a:lstStyle/>
          <a:p>
            <a:pPr algn="l"/>
            <a:r>
              <a:rPr sz="1300" b="0" i="0">
                <a:solidFill>
                  <a:srgbClr val="CCD6E0"/>
                </a:solidFill>
                <a:latin typeface="Calibri"/>
              </a:rPr>
              <a:t>quarterly-kpi-calculator</a:t>
            </a:r>
          </a:p>
        </p:txBody>
      </p:sp>
      <p:sp>
        <p:nvSpPr>
          <p:cNvPr id="24" name="TextBox 23"/>
          <p:cNvSpPr txBox="1"/>
          <p:nvPr/>
        </p:nvSpPr>
        <p:spPr>
          <a:xfrm>
            <a:off x="3337560" y="2615184"/>
            <a:ext cx="1463040" cy="548640"/>
          </a:xfrm>
          <a:prstGeom prst="rect">
            <a:avLst/>
          </a:prstGeom>
          <a:noFill/>
        </p:spPr>
        <p:txBody>
          <a:bodyPr wrap="square">
            <a:spAutoFit/>
          </a:bodyPr>
          <a:lstStyle/>
          <a:p>
            <a:pPr algn="l"/>
            <a:r>
              <a:rPr sz="1300" b="0" i="0">
                <a:solidFill>
                  <a:srgbClr val="FF9A00"/>
                </a:solidFill>
                <a:latin typeface="Calibri"/>
              </a:rPr>
              <a:t>AGENT_SKILLS</a:t>
            </a:r>
          </a:p>
        </p:txBody>
      </p:sp>
      <p:sp>
        <p:nvSpPr>
          <p:cNvPr id="25" name="TextBox 24"/>
          <p:cNvSpPr txBox="1"/>
          <p:nvPr/>
        </p:nvSpPr>
        <p:spPr>
          <a:xfrm>
            <a:off x="5029200" y="2615184"/>
            <a:ext cx="6675120" cy="548640"/>
          </a:xfrm>
          <a:prstGeom prst="rect">
            <a:avLst/>
          </a:prstGeom>
          <a:noFill/>
        </p:spPr>
        <p:txBody>
          <a:bodyPr wrap="square">
            <a:spAutoFit/>
          </a:bodyPr>
          <a:lstStyle/>
          <a:p>
            <a:pPr algn="l"/>
            <a:r>
              <a:rPr sz="1300" b="0" i="0">
                <a:solidFill>
                  <a:srgbClr val="CCD6E0"/>
                </a:solidFill>
                <a:latin typeface="Calibri"/>
              </a:rPr>
              <a:t>Calculates Gross Margin %, EBITDA Margin %, OpEx Ratio, QoQ Revenue Growth</a:t>
            </a:r>
          </a:p>
        </p:txBody>
      </p:sp>
      <p:sp>
        <p:nvSpPr>
          <p:cNvPr id="26" name="Rectangle 25"/>
          <p:cNvSpPr/>
          <p:nvPr/>
        </p:nvSpPr>
        <p:spPr>
          <a:xfrm>
            <a:off x="274320" y="3255264"/>
            <a:ext cx="288036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46120" y="3255264"/>
            <a:ext cx="160020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7760" y="3255264"/>
            <a:ext cx="681228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328416"/>
            <a:ext cx="2743200" cy="548640"/>
          </a:xfrm>
          <a:prstGeom prst="rect">
            <a:avLst/>
          </a:prstGeom>
          <a:noFill/>
        </p:spPr>
        <p:txBody>
          <a:bodyPr wrap="square">
            <a:spAutoFit/>
          </a:bodyPr>
          <a:lstStyle/>
          <a:p>
            <a:pPr algn="l"/>
            <a:r>
              <a:rPr sz="1300" b="0" i="0">
                <a:solidFill>
                  <a:srgbClr val="CCD6E0"/>
                </a:solidFill>
                <a:latin typeface="Calibri"/>
              </a:rPr>
              <a:t>cost-efficiency-analyzer</a:t>
            </a:r>
          </a:p>
        </p:txBody>
      </p:sp>
      <p:sp>
        <p:nvSpPr>
          <p:cNvPr id="30" name="TextBox 29"/>
          <p:cNvSpPr txBox="1"/>
          <p:nvPr/>
        </p:nvSpPr>
        <p:spPr>
          <a:xfrm>
            <a:off x="3337560" y="3328416"/>
            <a:ext cx="1463040" cy="548640"/>
          </a:xfrm>
          <a:prstGeom prst="rect">
            <a:avLst/>
          </a:prstGeom>
          <a:noFill/>
        </p:spPr>
        <p:txBody>
          <a:bodyPr wrap="square">
            <a:spAutoFit/>
          </a:bodyPr>
          <a:lstStyle/>
          <a:p>
            <a:pPr algn="l"/>
            <a:r>
              <a:rPr sz="1300" b="0" i="0">
                <a:solidFill>
                  <a:srgbClr val="FF9A00"/>
                </a:solidFill>
                <a:latin typeface="Calibri"/>
              </a:rPr>
              <a:t>AGENT_SKILLS</a:t>
            </a:r>
          </a:p>
        </p:txBody>
      </p:sp>
      <p:sp>
        <p:nvSpPr>
          <p:cNvPr id="31" name="TextBox 30"/>
          <p:cNvSpPr txBox="1"/>
          <p:nvPr/>
        </p:nvSpPr>
        <p:spPr>
          <a:xfrm>
            <a:off x="5029200" y="3328416"/>
            <a:ext cx="6675120" cy="548640"/>
          </a:xfrm>
          <a:prstGeom prst="rect">
            <a:avLst/>
          </a:prstGeom>
          <a:noFill/>
        </p:spPr>
        <p:txBody>
          <a:bodyPr wrap="square">
            <a:spAutoFit/>
          </a:bodyPr>
          <a:lstStyle/>
          <a:p>
            <a:pPr algn="l"/>
            <a:r>
              <a:rPr sz="1300" b="0" i="0">
                <a:solidFill>
                  <a:srgbClr val="CCD6E0"/>
                </a:solidFill>
                <a:latin typeface="Calibri"/>
              </a:rPr>
              <a:t>Analyzes COGS, operating expenses, cost ratios vs benchmarks</a:t>
            </a:r>
          </a:p>
        </p:txBody>
      </p:sp>
      <p:sp>
        <p:nvSpPr>
          <p:cNvPr id="32" name="Rectangle 31"/>
          <p:cNvSpPr/>
          <p:nvPr/>
        </p:nvSpPr>
        <p:spPr>
          <a:xfrm>
            <a:off x="274320" y="3968496"/>
            <a:ext cx="288036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46120" y="3968496"/>
            <a:ext cx="160020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937760" y="3968496"/>
            <a:ext cx="681228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041648"/>
            <a:ext cx="2743200" cy="548640"/>
          </a:xfrm>
          <a:prstGeom prst="rect">
            <a:avLst/>
          </a:prstGeom>
          <a:noFill/>
        </p:spPr>
        <p:txBody>
          <a:bodyPr wrap="square">
            <a:spAutoFit/>
          </a:bodyPr>
          <a:lstStyle/>
          <a:p>
            <a:pPr algn="l"/>
            <a:r>
              <a:rPr sz="1300" b="0" i="0">
                <a:solidFill>
                  <a:srgbClr val="CCD6E0"/>
                </a:solidFill>
                <a:latin typeface="Calibri"/>
              </a:rPr>
              <a:t>revenue-growth-analyst</a:t>
            </a:r>
          </a:p>
        </p:txBody>
      </p:sp>
      <p:sp>
        <p:nvSpPr>
          <p:cNvPr id="36" name="TextBox 35"/>
          <p:cNvSpPr txBox="1"/>
          <p:nvPr/>
        </p:nvSpPr>
        <p:spPr>
          <a:xfrm>
            <a:off x="3337560" y="4041648"/>
            <a:ext cx="1463040" cy="548640"/>
          </a:xfrm>
          <a:prstGeom prst="rect">
            <a:avLst/>
          </a:prstGeom>
          <a:noFill/>
        </p:spPr>
        <p:txBody>
          <a:bodyPr wrap="square">
            <a:spAutoFit/>
          </a:bodyPr>
          <a:lstStyle/>
          <a:p>
            <a:pPr algn="l"/>
            <a:r>
              <a:rPr sz="1300" b="0" i="0">
                <a:solidFill>
                  <a:srgbClr val="FF9A00"/>
                </a:solidFill>
                <a:latin typeface="Calibri"/>
              </a:rPr>
              <a:t>AGENT_SKILLS</a:t>
            </a:r>
          </a:p>
        </p:txBody>
      </p:sp>
      <p:sp>
        <p:nvSpPr>
          <p:cNvPr id="37" name="TextBox 36"/>
          <p:cNvSpPr txBox="1"/>
          <p:nvPr/>
        </p:nvSpPr>
        <p:spPr>
          <a:xfrm>
            <a:off x="5029200" y="4041648"/>
            <a:ext cx="6675120" cy="548640"/>
          </a:xfrm>
          <a:prstGeom prst="rect">
            <a:avLst/>
          </a:prstGeom>
          <a:noFill/>
        </p:spPr>
        <p:txBody>
          <a:bodyPr wrap="square">
            <a:spAutoFit/>
          </a:bodyPr>
          <a:lstStyle/>
          <a:p>
            <a:pPr algn="l"/>
            <a:r>
              <a:rPr sz="1300" b="0" i="0">
                <a:solidFill>
                  <a:srgbClr val="CCD6E0"/>
                </a:solidFill>
                <a:latin typeface="Calibri"/>
              </a:rPr>
              <a:t>Revenue trend, growth drivers, QoQ and YoY analysis</a:t>
            </a:r>
          </a:p>
        </p:txBody>
      </p:sp>
      <p:sp>
        <p:nvSpPr>
          <p:cNvPr id="38" name="Rectangle 37"/>
          <p:cNvSpPr/>
          <p:nvPr/>
        </p:nvSpPr>
        <p:spPr>
          <a:xfrm>
            <a:off x="274320" y="4681728"/>
            <a:ext cx="288036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46120" y="4681728"/>
            <a:ext cx="160020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937760" y="4681728"/>
            <a:ext cx="6812280" cy="658368"/>
          </a:xfrm>
          <a:prstGeom prst="rect">
            <a:avLst/>
          </a:prstGeom>
          <a:solidFill>
            <a:srgbClr val="0C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754880"/>
            <a:ext cx="2743200" cy="548640"/>
          </a:xfrm>
          <a:prstGeom prst="rect">
            <a:avLst/>
          </a:prstGeom>
          <a:noFill/>
        </p:spPr>
        <p:txBody>
          <a:bodyPr wrap="square">
            <a:spAutoFit/>
          </a:bodyPr>
          <a:lstStyle/>
          <a:p>
            <a:pPr algn="l"/>
            <a:r>
              <a:rPr sz="1300" b="0" i="0">
                <a:solidFill>
                  <a:srgbClr val="CCD6E0"/>
                </a:solidFill>
                <a:latin typeface="Calibri"/>
              </a:rPr>
              <a:t>multi-quarter-trend-analysis</a:t>
            </a:r>
          </a:p>
        </p:txBody>
      </p:sp>
      <p:sp>
        <p:nvSpPr>
          <p:cNvPr id="42" name="TextBox 41"/>
          <p:cNvSpPr txBox="1"/>
          <p:nvPr/>
        </p:nvSpPr>
        <p:spPr>
          <a:xfrm>
            <a:off x="3337560" y="4754880"/>
            <a:ext cx="1463040" cy="548640"/>
          </a:xfrm>
          <a:prstGeom prst="rect">
            <a:avLst/>
          </a:prstGeom>
          <a:noFill/>
        </p:spPr>
        <p:txBody>
          <a:bodyPr wrap="square">
            <a:spAutoFit/>
          </a:bodyPr>
          <a:lstStyle/>
          <a:p>
            <a:pPr algn="l"/>
            <a:r>
              <a:rPr sz="1300" b="0" i="0">
                <a:solidFill>
                  <a:srgbClr val="FF9A00"/>
                </a:solidFill>
                <a:latin typeface="Calibri"/>
              </a:rPr>
              <a:t>AGENT_SKILLS</a:t>
            </a:r>
          </a:p>
        </p:txBody>
      </p:sp>
      <p:sp>
        <p:nvSpPr>
          <p:cNvPr id="43" name="TextBox 42"/>
          <p:cNvSpPr txBox="1"/>
          <p:nvPr/>
        </p:nvSpPr>
        <p:spPr>
          <a:xfrm>
            <a:off x="5029200" y="4754880"/>
            <a:ext cx="6675120" cy="548640"/>
          </a:xfrm>
          <a:prstGeom prst="rect">
            <a:avLst/>
          </a:prstGeom>
          <a:noFill/>
        </p:spPr>
        <p:txBody>
          <a:bodyPr wrap="square">
            <a:spAutoFit/>
          </a:bodyPr>
          <a:lstStyle/>
          <a:p>
            <a:pPr algn="l"/>
            <a:r>
              <a:rPr sz="1300" b="0" i="0">
                <a:solidFill>
                  <a:srgbClr val="CCD6E0"/>
                </a:solidFill>
                <a:latin typeface="Calibri"/>
              </a:rPr>
              <a:t>Trend narrative across Q4 2024 – Q3 2025 (4 quarters)</a:t>
            </a:r>
          </a:p>
        </p:txBody>
      </p:sp>
      <p:sp>
        <p:nvSpPr>
          <p:cNvPr id="44" name="Rectangle 43"/>
          <p:cNvSpPr/>
          <p:nvPr/>
        </p:nvSpPr>
        <p:spPr>
          <a:xfrm>
            <a:off x="274320" y="5394960"/>
            <a:ext cx="288036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6120" y="5394960"/>
            <a:ext cx="160020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37760" y="5394960"/>
            <a:ext cx="6812280" cy="658368"/>
          </a:xfrm>
          <a:prstGeom prst="rect">
            <a:avLst/>
          </a:prstGeom>
          <a:solidFill>
            <a:srgbClr val="0A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5468112"/>
            <a:ext cx="2743200" cy="548640"/>
          </a:xfrm>
          <a:prstGeom prst="rect">
            <a:avLst/>
          </a:prstGeom>
          <a:noFill/>
        </p:spPr>
        <p:txBody>
          <a:bodyPr wrap="square">
            <a:spAutoFit/>
          </a:bodyPr>
          <a:lstStyle/>
          <a:p>
            <a:pPr algn="l"/>
            <a:r>
              <a:rPr sz="1300" b="0" i="0">
                <a:solidFill>
                  <a:srgbClr val="CCD6E0"/>
                </a:solidFill>
                <a:latin typeface="Calibri"/>
              </a:rPr>
              <a:t>executive-financial-briefing</a:t>
            </a:r>
          </a:p>
        </p:txBody>
      </p:sp>
      <p:sp>
        <p:nvSpPr>
          <p:cNvPr id="48" name="TextBox 47"/>
          <p:cNvSpPr txBox="1"/>
          <p:nvPr/>
        </p:nvSpPr>
        <p:spPr>
          <a:xfrm>
            <a:off x="3337560" y="5468112"/>
            <a:ext cx="1463040" cy="548640"/>
          </a:xfrm>
          <a:prstGeom prst="rect">
            <a:avLst/>
          </a:prstGeom>
          <a:noFill/>
        </p:spPr>
        <p:txBody>
          <a:bodyPr wrap="square">
            <a:spAutoFit/>
          </a:bodyPr>
          <a:lstStyle/>
          <a:p>
            <a:pPr algn="l"/>
            <a:r>
              <a:rPr sz="1300" b="0" i="0">
                <a:solidFill>
                  <a:srgbClr val="FF9A00"/>
                </a:solidFill>
                <a:latin typeface="Calibri"/>
              </a:rPr>
              <a:t>AGENT_SKILLS</a:t>
            </a:r>
          </a:p>
        </p:txBody>
      </p:sp>
      <p:sp>
        <p:nvSpPr>
          <p:cNvPr id="49" name="TextBox 48"/>
          <p:cNvSpPr txBox="1"/>
          <p:nvPr/>
        </p:nvSpPr>
        <p:spPr>
          <a:xfrm>
            <a:off x="5029200" y="5468112"/>
            <a:ext cx="6675120" cy="548640"/>
          </a:xfrm>
          <a:prstGeom prst="rect">
            <a:avLst/>
          </a:prstGeom>
          <a:noFill/>
        </p:spPr>
        <p:txBody>
          <a:bodyPr wrap="square">
            <a:spAutoFit/>
          </a:bodyPr>
          <a:lstStyle/>
          <a:p>
            <a:pPr algn="l"/>
            <a:r>
              <a:rPr sz="1300" b="0" i="0">
                <a:solidFill>
                  <a:srgbClr val="CCD6E0"/>
                </a:solidFill>
                <a:latin typeface="Calibri"/>
              </a:rPr>
              <a:t>CFO-ready one-page briefing: headline numbers, watch list, recommended 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Infrastructure</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Built to serve the registry's crawl requirement</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365760" y="1417320"/>
            <a:ext cx="3474720" cy="1417320"/>
          </a:xfrm>
          <a:prstGeom prst="rect">
            <a:avLst/>
          </a:prstGeom>
          <a:solidFill>
            <a:srgbClr val="07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08760"/>
            <a:ext cx="3200400" cy="411480"/>
          </a:xfrm>
          <a:prstGeom prst="rect">
            <a:avLst/>
          </a:prstGeom>
          <a:noFill/>
        </p:spPr>
        <p:txBody>
          <a:bodyPr wrap="square">
            <a:spAutoFit/>
          </a:bodyPr>
          <a:lstStyle/>
          <a:p>
            <a:pPr algn="l"/>
            <a:r>
              <a:rPr sz="1700" b="1" i="0">
                <a:solidFill>
                  <a:srgbClr val="00A8E8"/>
                </a:solidFill>
                <a:latin typeface="Calibri"/>
              </a:rPr>
              <a:t>Chat UI</a:t>
            </a:r>
          </a:p>
        </p:txBody>
      </p:sp>
      <p:sp>
        <p:nvSpPr>
          <p:cNvPr id="10" name="TextBox 9"/>
          <p:cNvSpPr txBox="1"/>
          <p:nvPr/>
        </p:nvSpPr>
        <p:spPr>
          <a:xfrm>
            <a:off x="502920" y="1920240"/>
            <a:ext cx="3200400" cy="914400"/>
          </a:xfrm>
          <a:prstGeom prst="rect">
            <a:avLst/>
          </a:prstGeom>
          <a:noFill/>
        </p:spPr>
        <p:txBody>
          <a:bodyPr wrap="square">
            <a:spAutoFit/>
          </a:bodyPr>
          <a:lstStyle/>
          <a:p>
            <a:pPr algn="l"/>
            <a:r>
              <a:rPr sz="1300" b="0" i="0">
                <a:solidFill>
                  <a:srgbClr val="CCD6E0"/>
                </a:solidFill>
                <a:latin typeface="Calibri"/>
              </a:rPr>
              <a:t>Chainlit frontend
Private subnet
Exposed via CloudFront</a:t>
            </a:r>
          </a:p>
        </p:txBody>
      </p:sp>
      <p:sp>
        <p:nvSpPr>
          <p:cNvPr id="11" name="Rectangle 10"/>
          <p:cNvSpPr/>
          <p:nvPr/>
        </p:nvSpPr>
        <p:spPr>
          <a:xfrm>
            <a:off x="4160520" y="1417320"/>
            <a:ext cx="3474720" cy="1417320"/>
          </a:xfrm>
          <a:prstGeom prst="rect">
            <a:avLst/>
          </a:prstGeom>
          <a:solidFill>
            <a:srgbClr val="07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08760"/>
            <a:ext cx="3200400" cy="411480"/>
          </a:xfrm>
          <a:prstGeom prst="rect">
            <a:avLst/>
          </a:prstGeom>
          <a:noFill/>
        </p:spPr>
        <p:txBody>
          <a:bodyPr wrap="square">
            <a:spAutoFit/>
          </a:bodyPr>
          <a:lstStyle/>
          <a:p>
            <a:pPr algn="l"/>
            <a:r>
              <a:rPr sz="1700" b="1" i="0">
                <a:solidFill>
                  <a:srgbClr val="00A8E8"/>
                </a:solidFill>
                <a:latin typeface="Calibri"/>
              </a:rPr>
              <a:t>Strands Agent</a:t>
            </a:r>
          </a:p>
        </p:txBody>
      </p:sp>
      <p:sp>
        <p:nvSpPr>
          <p:cNvPr id="13" name="TextBox 12"/>
          <p:cNvSpPr txBox="1"/>
          <p:nvPr/>
        </p:nvSpPr>
        <p:spPr>
          <a:xfrm>
            <a:off x="4297680" y="1920240"/>
            <a:ext cx="3200400" cy="914400"/>
          </a:xfrm>
          <a:prstGeom prst="rect">
            <a:avLst/>
          </a:prstGeom>
          <a:noFill/>
        </p:spPr>
        <p:txBody>
          <a:bodyPr wrap="square">
            <a:spAutoFit/>
          </a:bodyPr>
          <a:lstStyle/>
          <a:p>
            <a:pPr algn="l"/>
            <a:r>
              <a:rPr sz="1300" b="0" i="0">
                <a:solidFill>
                  <a:srgbClr val="CCD6E0"/>
                </a:solidFill>
                <a:latin typeface="Calibri"/>
              </a:rPr>
              <a:t>Python agent process
Private subnet
Searches registry on each request</a:t>
            </a:r>
          </a:p>
        </p:txBody>
      </p:sp>
      <p:sp>
        <p:nvSpPr>
          <p:cNvPr id="14" name="Rectangle 13"/>
          <p:cNvSpPr/>
          <p:nvPr/>
        </p:nvSpPr>
        <p:spPr>
          <a:xfrm>
            <a:off x="7955280" y="1417320"/>
            <a:ext cx="3474720" cy="1417320"/>
          </a:xfrm>
          <a:prstGeom prst="rect">
            <a:avLst/>
          </a:prstGeom>
          <a:solidFill>
            <a:srgbClr val="07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508760"/>
            <a:ext cx="3200400" cy="411480"/>
          </a:xfrm>
          <a:prstGeom prst="rect">
            <a:avLst/>
          </a:prstGeom>
          <a:noFill/>
        </p:spPr>
        <p:txBody>
          <a:bodyPr wrap="square">
            <a:spAutoFit/>
          </a:bodyPr>
          <a:lstStyle/>
          <a:p>
            <a:pPr algn="l"/>
            <a:r>
              <a:rPr sz="1700" b="1" i="0">
                <a:solidFill>
                  <a:srgbClr val="00A8E8"/>
                </a:solidFill>
                <a:latin typeface="Calibri"/>
              </a:rPr>
              <a:t>MCP Server</a:t>
            </a:r>
          </a:p>
        </p:txBody>
      </p:sp>
      <p:sp>
        <p:nvSpPr>
          <p:cNvPr id="16" name="TextBox 15"/>
          <p:cNvSpPr txBox="1"/>
          <p:nvPr/>
        </p:nvSpPr>
        <p:spPr>
          <a:xfrm>
            <a:off x="8092440" y="1920240"/>
            <a:ext cx="3200400" cy="914400"/>
          </a:xfrm>
          <a:prstGeom prst="rect">
            <a:avLst/>
          </a:prstGeom>
          <a:noFill/>
        </p:spPr>
        <p:txBody>
          <a:bodyPr wrap="square">
            <a:spAutoFit/>
          </a:bodyPr>
          <a:lstStyle/>
          <a:p>
            <a:pPr algn="l"/>
            <a:r>
              <a:rPr sz="1300" b="0" i="0">
                <a:solidFill>
                  <a:srgbClr val="CCD6E0"/>
                </a:solidFill>
                <a:latin typeface="Calibri"/>
              </a:rPr>
              <a:t>FastMCP / Starlette
Private subnet
Reachable via API GW + VPC Link</a:t>
            </a:r>
          </a:p>
        </p:txBody>
      </p:sp>
      <p:sp>
        <p:nvSpPr>
          <p:cNvPr id="17" name="Rectangle 16"/>
          <p:cNvSpPr/>
          <p:nvPr/>
        </p:nvSpPr>
        <p:spPr>
          <a:xfrm>
            <a:off x="274320" y="3017520"/>
            <a:ext cx="11612880" cy="91440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72384"/>
            <a:ext cx="2743200" cy="384048"/>
          </a:xfrm>
          <a:prstGeom prst="rect">
            <a:avLst/>
          </a:prstGeom>
          <a:noFill/>
        </p:spPr>
        <p:txBody>
          <a:bodyPr wrap="square">
            <a:spAutoFit/>
          </a:bodyPr>
          <a:lstStyle/>
          <a:p>
            <a:pPr algn="l"/>
            <a:r>
              <a:rPr sz="1500" b="1" i="0">
                <a:solidFill>
                  <a:srgbClr val="FF9A00"/>
                </a:solidFill>
                <a:latin typeface="Calibri"/>
              </a:rPr>
              <a:t>API Gateway + VPC Link</a:t>
            </a:r>
          </a:p>
        </p:txBody>
      </p:sp>
      <p:sp>
        <p:nvSpPr>
          <p:cNvPr id="19" name="TextBox 18"/>
          <p:cNvSpPr txBox="1"/>
          <p:nvPr/>
        </p:nvSpPr>
        <p:spPr>
          <a:xfrm>
            <a:off x="3291840" y="3072384"/>
            <a:ext cx="8412480" cy="804672"/>
          </a:xfrm>
          <a:prstGeom prst="rect">
            <a:avLst/>
          </a:prstGeom>
          <a:noFill/>
        </p:spPr>
        <p:txBody>
          <a:bodyPr wrap="square">
            <a:spAutoFit/>
          </a:bodyPr>
          <a:lstStyle/>
          <a:p>
            <a:pPr algn="l"/>
            <a:r>
              <a:rPr sz="1300" b="0" i="0">
                <a:solidFill>
                  <a:srgbClr val="CCD6E0"/>
                </a:solidFill>
                <a:latin typeface="Calibri"/>
              </a:rPr>
              <a:t>Registry crawler cannot reach a private ALB DNS name from outside the VPC. API GW HTTP API + VPC Link bridges the public HTTPS endpoint to the internal MCP ALB. IAM SigV4 (execute-api) protects the endpoint.</a:t>
            </a:r>
          </a:p>
        </p:txBody>
      </p:sp>
      <p:sp>
        <p:nvSpPr>
          <p:cNvPr id="20" name="Rectangle 19"/>
          <p:cNvSpPr/>
          <p:nvPr/>
        </p:nvSpPr>
        <p:spPr>
          <a:xfrm>
            <a:off x="274320" y="4005072"/>
            <a:ext cx="11612880" cy="91440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59936"/>
            <a:ext cx="2743200" cy="384048"/>
          </a:xfrm>
          <a:prstGeom prst="rect">
            <a:avLst/>
          </a:prstGeom>
          <a:noFill/>
        </p:spPr>
        <p:txBody>
          <a:bodyPr wrap="square">
            <a:spAutoFit/>
          </a:bodyPr>
          <a:lstStyle/>
          <a:p>
            <a:pPr algn="l"/>
            <a:r>
              <a:rPr sz="1500" b="1" i="0">
                <a:solidFill>
                  <a:srgbClr val="FF9A00"/>
                </a:solidFill>
                <a:latin typeface="Calibri"/>
              </a:rPr>
              <a:t>NAT Gateway</a:t>
            </a:r>
          </a:p>
        </p:txBody>
      </p:sp>
      <p:sp>
        <p:nvSpPr>
          <p:cNvPr id="22" name="TextBox 21"/>
          <p:cNvSpPr txBox="1"/>
          <p:nvPr/>
        </p:nvSpPr>
        <p:spPr>
          <a:xfrm>
            <a:off x="3291840" y="4059936"/>
            <a:ext cx="8412480" cy="804672"/>
          </a:xfrm>
          <a:prstGeom prst="rect">
            <a:avLst/>
          </a:prstGeom>
          <a:noFill/>
        </p:spPr>
        <p:txBody>
          <a:bodyPr wrap="square">
            <a:spAutoFit/>
          </a:bodyPr>
          <a:lstStyle/>
          <a:p>
            <a:pPr algn="l"/>
            <a:r>
              <a:rPr sz="1300" b="0" i="0">
                <a:solidFill>
                  <a:srgbClr val="CCD6E0"/>
                </a:solidFill>
                <a:latin typeface="Calibri"/>
              </a:rPr>
              <a:t>Agent ECS task calls bedrock-agentcore (registry search) and bedrock-runtime (model inference). Private subnets have no internet route by default. Production alternative: VPC PrivateLink for both services — traffic stays on AWS backbone.</a:t>
            </a:r>
          </a:p>
        </p:txBody>
      </p:sp>
      <p:sp>
        <p:nvSpPr>
          <p:cNvPr id="23" name="Rectangle 22"/>
          <p:cNvSpPr/>
          <p:nvPr/>
        </p:nvSpPr>
        <p:spPr>
          <a:xfrm>
            <a:off x="274320" y="4992624"/>
            <a:ext cx="11612880" cy="914400"/>
          </a:xfrm>
          <a:prstGeom prst="rect">
            <a:avLst/>
          </a:prstGeom>
          <a:solidFill>
            <a:srgbClr val="0A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47488"/>
            <a:ext cx="2743200" cy="384048"/>
          </a:xfrm>
          <a:prstGeom prst="rect">
            <a:avLst/>
          </a:prstGeom>
          <a:noFill/>
        </p:spPr>
        <p:txBody>
          <a:bodyPr wrap="square">
            <a:spAutoFit/>
          </a:bodyPr>
          <a:lstStyle/>
          <a:p>
            <a:pPr algn="l"/>
            <a:r>
              <a:rPr sz="1500" b="1" i="0">
                <a:solidFill>
                  <a:srgbClr val="FF9A00"/>
                </a:solidFill>
                <a:latin typeface="Calibri"/>
              </a:rPr>
              <a:t>VPC Lattice (future)</a:t>
            </a:r>
          </a:p>
        </p:txBody>
      </p:sp>
      <p:sp>
        <p:nvSpPr>
          <p:cNvPr id="25" name="TextBox 24"/>
          <p:cNvSpPr txBox="1"/>
          <p:nvPr/>
        </p:nvSpPr>
        <p:spPr>
          <a:xfrm>
            <a:off x="3291840" y="5047488"/>
            <a:ext cx="8412480" cy="804672"/>
          </a:xfrm>
          <a:prstGeom prst="rect">
            <a:avLst/>
          </a:prstGeom>
          <a:noFill/>
        </p:spPr>
        <p:txBody>
          <a:bodyPr wrap="square">
            <a:spAutoFit/>
          </a:bodyPr>
          <a:lstStyle/>
          <a:p>
            <a:pPr algn="l"/>
            <a:r>
              <a:rPr sz="1300" b="0" i="0">
                <a:solidFill>
                  <a:srgbClr val="CCD6E0"/>
                </a:solidFill>
                <a:latin typeface="Calibri"/>
              </a:rPr>
              <a:t>API GW + VPC Link works for one MCP server in one account. At scale, VPC Lattice provides service mesh across many servers and accounts with built-in auth, traffic policies, and observability. Registry URL-sync model works identically.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What We Had to Work Through</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Three sequential problems to register the MCP record — none documented end-to-end</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417320"/>
            <a:ext cx="11612880" cy="1463040"/>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417320"/>
            <a:ext cx="64008" cy="1463040"/>
          </a:xfrm>
          <a:prstGeom prst="rect">
            <a:avLst/>
          </a:prstGeom>
          <a:solidFill>
            <a:srgbClr val="00C4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90472"/>
            <a:ext cx="11247120" cy="365760"/>
          </a:xfrm>
          <a:prstGeom prst="rect">
            <a:avLst/>
          </a:prstGeom>
          <a:noFill/>
        </p:spPr>
        <p:txBody>
          <a:bodyPr wrap="square">
            <a:spAutoFit/>
          </a:bodyPr>
          <a:lstStyle/>
          <a:p>
            <a:pPr algn="l"/>
            <a:r>
              <a:rPr sz="1500" b="1" i="0">
                <a:solidFill>
                  <a:srgbClr val="FF9A00"/>
                </a:solidFill>
                <a:latin typeface="Calibri"/>
              </a:rPr>
              <a:t>Problem 1 — IAM Trust Policy</a:t>
            </a:r>
          </a:p>
        </p:txBody>
      </p:sp>
      <p:sp>
        <p:nvSpPr>
          <p:cNvPr id="11" name="TextBox 10"/>
          <p:cNvSpPr txBox="1"/>
          <p:nvPr/>
        </p:nvSpPr>
        <p:spPr>
          <a:xfrm>
            <a:off x="457200" y="1828800"/>
            <a:ext cx="11247120" cy="365760"/>
          </a:xfrm>
          <a:prstGeom prst="rect">
            <a:avLst/>
          </a:prstGeom>
          <a:noFill/>
        </p:spPr>
        <p:txBody>
          <a:bodyPr wrap="square">
            <a:spAutoFit/>
          </a:bodyPr>
          <a:lstStyle/>
          <a:p>
            <a:pPr algn="l"/>
            <a:r>
              <a:rPr sz="1200" b="0" i="1">
                <a:solidFill>
                  <a:srgbClr val="FF7777"/>
                </a:solidFill>
                <a:latin typeface="Courier New"/>
              </a:rPr>
              <a:t>Error: "Unable to assume the provided IAM role for MCP server authentication"</a:t>
            </a:r>
          </a:p>
        </p:txBody>
      </p:sp>
      <p:sp>
        <p:nvSpPr>
          <p:cNvPr id="12" name="TextBox 11"/>
          <p:cNvSpPr txBox="1"/>
          <p:nvPr/>
        </p:nvSpPr>
        <p:spPr>
          <a:xfrm>
            <a:off x="457200" y="2194560"/>
            <a:ext cx="11247120" cy="658368"/>
          </a:xfrm>
          <a:prstGeom prst="rect">
            <a:avLst/>
          </a:prstGeom>
          <a:noFill/>
        </p:spPr>
        <p:txBody>
          <a:bodyPr wrap="square">
            <a:spAutoFit/>
          </a:bodyPr>
          <a:lstStyle/>
          <a:p>
            <a:pPr algn="l"/>
            <a:r>
              <a:rPr sz="1250" b="0" i="0">
                <a:solidFill>
                  <a:srgbClr val="CCD6E0"/>
                </a:solidFill>
                <a:latin typeface="Calibri"/>
              </a:rPr>
              <a:t>The registry crawler calls sts:AssumeRole on the role in credentialProviderConfigurations. The role's trust policy only listed ecs-tasks.amazonaws.com.
Fix: add bedrock-agentcore.amazonaws.com as a trusted principal in the IAM role.</a:t>
            </a:r>
          </a:p>
        </p:txBody>
      </p:sp>
      <p:sp>
        <p:nvSpPr>
          <p:cNvPr id="13" name="Rectangle 12"/>
          <p:cNvSpPr/>
          <p:nvPr/>
        </p:nvSpPr>
        <p:spPr>
          <a:xfrm>
            <a:off x="274320" y="2990088"/>
            <a:ext cx="11612880" cy="1463040"/>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990088"/>
            <a:ext cx="64008" cy="1463040"/>
          </a:xfrm>
          <a:prstGeom prst="rect">
            <a:avLst/>
          </a:prstGeom>
          <a:solidFill>
            <a:srgbClr val="00C4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063240"/>
            <a:ext cx="11247120" cy="365760"/>
          </a:xfrm>
          <a:prstGeom prst="rect">
            <a:avLst/>
          </a:prstGeom>
          <a:noFill/>
        </p:spPr>
        <p:txBody>
          <a:bodyPr wrap="square">
            <a:spAutoFit/>
          </a:bodyPr>
          <a:lstStyle/>
          <a:p>
            <a:pPr algn="l"/>
            <a:r>
              <a:rPr sz="1500" b="1" i="0">
                <a:solidFill>
                  <a:srgbClr val="FF9A00"/>
                </a:solidFill>
                <a:latin typeface="Calibri"/>
              </a:rPr>
              <a:t>Problem 2 — SSE Transport Not Supported</a:t>
            </a:r>
          </a:p>
        </p:txBody>
      </p:sp>
      <p:sp>
        <p:nvSpPr>
          <p:cNvPr id="16" name="TextBox 15"/>
          <p:cNvSpPr txBox="1"/>
          <p:nvPr/>
        </p:nvSpPr>
        <p:spPr>
          <a:xfrm>
            <a:off x="457200" y="3401568"/>
            <a:ext cx="11247120" cy="365760"/>
          </a:xfrm>
          <a:prstGeom prst="rect">
            <a:avLst/>
          </a:prstGeom>
          <a:noFill/>
        </p:spPr>
        <p:txBody>
          <a:bodyPr wrap="square">
            <a:spAutoFit/>
          </a:bodyPr>
          <a:lstStyle/>
          <a:p>
            <a:pPr algn="l"/>
            <a:r>
              <a:rPr sz="1200" b="0" i="1">
                <a:solidFill>
                  <a:srgbClr val="FF7777"/>
                </a:solidFill>
                <a:latin typeface="Courier New"/>
              </a:rPr>
              <a:t>Error: "SSE streams from MCP server is currently not supported"</a:t>
            </a:r>
          </a:p>
        </p:txBody>
      </p:sp>
      <p:sp>
        <p:nvSpPr>
          <p:cNvPr id="17" name="TextBox 16"/>
          <p:cNvSpPr txBox="1"/>
          <p:nvPr/>
        </p:nvSpPr>
        <p:spPr>
          <a:xfrm>
            <a:off x="457200" y="3767328"/>
            <a:ext cx="11247120" cy="658368"/>
          </a:xfrm>
          <a:prstGeom prst="rect">
            <a:avLst/>
          </a:prstGeom>
          <a:noFill/>
        </p:spPr>
        <p:txBody>
          <a:bodyPr wrap="square">
            <a:spAutoFit/>
          </a:bodyPr>
          <a:lstStyle/>
          <a:p>
            <a:pPr algn="l"/>
            <a:r>
              <a:rPr sz="1250" b="0" i="0">
                <a:solidFill>
                  <a:srgbClr val="CCD6E0"/>
                </a:solidFill>
                <a:latin typeface="Calibri"/>
              </a:rPr>
              <a:t>The registry crawler sends a one-shot POST expecting plain JSON. FastMCP defaults to SSE.
Fix: json_response=True on mcp.http_app(). The MCP client negotiates format via Accept header — fully backward compatible. AWS docs confirm SSE is a public-preview limitation.</a:t>
            </a:r>
          </a:p>
        </p:txBody>
      </p:sp>
      <p:sp>
        <p:nvSpPr>
          <p:cNvPr id="18" name="Rectangle 17"/>
          <p:cNvSpPr/>
          <p:nvPr/>
        </p:nvSpPr>
        <p:spPr>
          <a:xfrm>
            <a:off x="274320" y="4562856"/>
            <a:ext cx="11612880" cy="1463040"/>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4562856"/>
            <a:ext cx="64008" cy="1463040"/>
          </a:xfrm>
          <a:prstGeom prst="rect">
            <a:avLst/>
          </a:prstGeom>
          <a:solidFill>
            <a:srgbClr val="00C4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636008"/>
            <a:ext cx="11247120" cy="365760"/>
          </a:xfrm>
          <a:prstGeom prst="rect">
            <a:avLst/>
          </a:prstGeom>
          <a:noFill/>
        </p:spPr>
        <p:txBody>
          <a:bodyPr wrap="square">
            <a:spAutoFit/>
          </a:bodyPr>
          <a:lstStyle/>
          <a:p>
            <a:pPr algn="l"/>
            <a:r>
              <a:rPr sz="1500" b="1" i="0">
                <a:solidFill>
                  <a:srgbClr val="FF9A00"/>
                </a:solidFill>
                <a:latin typeface="Calibri"/>
              </a:rPr>
              <a:t>Problem 3 — URL Extraction from Search Results</a:t>
            </a:r>
          </a:p>
        </p:txBody>
      </p:sp>
      <p:sp>
        <p:nvSpPr>
          <p:cNvPr id="21" name="TextBox 20"/>
          <p:cNvSpPr txBox="1"/>
          <p:nvPr/>
        </p:nvSpPr>
        <p:spPr>
          <a:xfrm>
            <a:off x="457200" y="4974336"/>
            <a:ext cx="11247120" cy="365760"/>
          </a:xfrm>
          <a:prstGeom prst="rect">
            <a:avLst/>
          </a:prstGeom>
          <a:noFill/>
        </p:spPr>
        <p:txBody>
          <a:bodyPr wrap="square">
            <a:spAutoFit/>
          </a:bodyPr>
          <a:lstStyle/>
          <a:p>
            <a:pPr algn="l"/>
            <a:r>
              <a:rPr sz="1200" b="0" i="1">
                <a:solidFill>
                  <a:srgbClr val="FF7777"/>
                </a:solidFill>
                <a:latin typeface="Courier New"/>
              </a:rPr>
              <a:t>Agent startup found the MCP record but could not extract the server URL</a:t>
            </a:r>
          </a:p>
        </p:txBody>
      </p:sp>
      <p:sp>
        <p:nvSpPr>
          <p:cNvPr id="22" name="TextBox 21"/>
          <p:cNvSpPr txBox="1"/>
          <p:nvPr/>
        </p:nvSpPr>
        <p:spPr>
          <a:xfrm>
            <a:off x="457200" y="5340096"/>
            <a:ext cx="11247120" cy="658368"/>
          </a:xfrm>
          <a:prstGeom prst="rect">
            <a:avLst/>
          </a:prstGeom>
          <a:noFill/>
        </p:spPr>
        <p:txBody>
          <a:bodyPr wrap="square">
            <a:spAutoFit/>
          </a:bodyPr>
          <a:lstStyle/>
          <a:p>
            <a:pPr algn="l"/>
            <a:r>
              <a:rPr sz="1250" b="0" i="0">
                <a:solidFill>
                  <a:srgbClr val="CCD6E0"/>
                </a:solidFill>
                <a:latin typeface="Calibri"/>
              </a:rPr>
              <a:t>synchronizationConfiguration (containing the original URL) is NOT returned by search_registry_records. The URL lives in descriptors.mcp.server.inlineContent (MCP server manifest schema modelcontextprotocol.io/schemas/2025-12-11) → remotes[0].url.
Fix: parse that JSON path in _discover_mcp_url().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When Things Happen — Initialization &amp; Per-Request Flow</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What the agent knows at startup vs what it discovers per request</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371600"/>
            <a:ext cx="5303520" cy="502920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4937760" cy="411480"/>
          </a:xfrm>
          <a:prstGeom prst="rect">
            <a:avLst/>
          </a:prstGeom>
          <a:noFill/>
        </p:spPr>
        <p:txBody>
          <a:bodyPr wrap="square">
            <a:spAutoFit/>
          </a:bodyPr>
          <a:lstStyle/>
          <a:p>
            <a:pPr algn="l"/>
            <a:r>
              <a:rPr sz="1700" b="1" i="0">
                <a:solidFill>
                  <a:srgbClr val="00A8E8"/>
                </a:solidFill>
                <a:latin typeface="Calibri"/>
              </a:rPr>
              <a:t>At ECS Task Startup</a:t>
            </a:r>
          </a:p>
        </p:txBody>
      </p:sp>
      <p:sp>
        <p:nvSpPr>
          <p:cNvPr id="10" name="TextBox 9"/>
          <p:cNvSpPr txBox="1"/>
          <p:nvPr/>
        </p:nvSpPr>
        <p:spPr>
          <a:xfrm>
            <a:off x="457200" y="1920240"/>
            <a:ext cx="5029200" cy="384048"/>
          </a:xfrm>
          <a:prstGeom prst="rect">
            <a:avLst/>
          </a:prstGeom>
          <a:noFill/>
        </p:spPr>
        <p:txBody>
          <a:bodyPr wrap="square">
            <a:spAutoFit/>
          </a:bodyPr>
          <a:lstStyle/>
          <a:p>
            <a:pPr algn="l"/>
            <a:r>
              <a:rPr sz="1250" b="0" i="0">
                <a:solidFill>
                  <a:srgbClr val="CCD6E0"/>
                </a:solidFill>
                <a:latin typeface="Calibri"/>
              </a:rPr>
              <a:t>✓  Calls search_registry_records('financial tools MCP')</a:t>
            </a:r>
          </a:p>
        </p:txBody>
      </p:sp>
      <p:sp>
        <p:nvSpPr>
          <p:cNvPr id="11" name="TextBox 10"/>
          <p:cNvSpPr txBox="1"/>
          <p:nvPr/>
        </p:nvSpPr>
        <p:spPr>
          <a:xfrm>
            <a:off x="457200" y="2276856"/>
            <a:ext cx="5029200" cy="384048"/>
          </a:xfrm>
          <a:prstGeom prst="rect">
            <a:avLst/>
          </a:prstGeom>
          <a:noFill/>
        </p:spPr>
        <p:txBody>
          <a:bodyPr wrap="square">
            <a:spAutoFit/>
          </a:bodyPr>
          <a:lstStyle/>
          <a:p>
            <a:pPr algn="l"/>
            <a:r>
              <a:rPr sz="1250" b="0" i="0">
                <a:solidFill>
                  <a:srgbClr val="CCD6E0"/>
                </a:solidFill>
                <a:latin typeface="Calibri"/>
              </a:rPr>
              <a:t>✓  Parses descriptors.mcp.server.inlineContent → remotes[0].url</a:t>
            </a:r>
          </a:p>
        </p:txBody>
      </p:sp>
      <p:sp>
        <p:nvSpPr>
          <p:cNvPr id="12" name="TextBox 11"/>
          <p:cNvSpPr txBox="1"/>
          <p:nvPr/>
        </p:nvSpPr>
        <p:spPr>
          <a:xfrm>
            <a:off x="457200" y="2633472"/>
            <a:ext cx="5029200" cy="384048"/>
          </a:xfrm>
          <a:prstGeom prst="rect">
            <a:avLst/>
          </a:prstGeom>
          <a:noFill/>
        </p:spPr>
        <p:txBody>
          <a:bodyPr wrap="square">
            <a:spAutoFit/>
          </a:bodyPr>
          <a:lstStyle/>
          <a:p>
            <a:pPr algn="l"/>
            <a:r>
              <a:rPr sz="1250" b="0" i="0">
                <a:solidFill>
                  <a:srgbClr val="CCD6E0"/>
                </a:solidFill>
                <a:latin typeface="Calibri"/>
              </a:rPr>
              <a:t>✓  Caches MCP server URL (string only — no connection)</a:t>
            </a:r>
          </a:p>
        </p:txBody>
      </p:sp>
      <p:sp>
        <p:nvSpPr>
          <p:cNvPr id="13" name="TextBox 12"/>
          <p:cNvSpPr txBox="1"/>
          <p:nvPr/>
        </p:nvSpPr>
        <p:spPr>
          <a:xfrm>
            <a:off x="457200" y="2990088"/>
            <a:ext cx="5029200" cy="384048"/>
          </a:xfrm>
          <a:prstGeom prst="rect">
            <a:avLst/>
          </a:prstGeom>
          <a:noFill/>
        </p:spPr>
        <p:txBody>
          <a:bodyPr wrap="square">
            <a:spAutoFit/>
          </a:bodyPr>
          <a:lstStyle/>
          <a:p>
            <a:pPr algn="l"/>
            <a:r>
              <a:rPr sz="1250" b="0" i="0">
                <a:solidFill>
                  <a:srgbClr val="CCD6E0"/>
                </a:solidFill>
                <a:latin typeface="Calibri"/>
              </a:rPr>
              <a:t>✓  Has 3 base tools: search_and_load_skill, file_read, python_exec</a:t>
            </a:r>
          </a:p>
        </p:txBody>
      </p:sp>
      <p:sp>
        <p:nvSpPr>
          <p:cNvPr id="14" name="TextBox 13"/>
          <p:cNvSpPr txBox="1"/>
          <p:nvPr/>
        </p:nvSpPr>
        <p:spPr>
          <a:xfrm>
            <a:off x="457200" y="3346704"/>
            <a:ext cx="5029200" cy="384048"/>
          </a:xfrm>
          <a:prstGeom prst="rect">
            <a:avLst/>
          </a:prstGeom>
          <a:noFill/>
        </p:spPr>
        <p:txBody>
          <a:bodyPr wrap="square">
            <a:spAutoFit/>
          </a:bodyPr>
          <a:lstStyle/>
          <a:p>
            <a:pPr algn="l"/>
            <a:r>
              <a:rPr sz="1250" b="0" i="0">
                <a:solidFill>
                  <a:srgbClr val="CCD6E0"/>
                </a:solidFill>
                <a:latin typeface="Calibri"/>
              </a:rPr>
              <a:t>✓  Has system prompt describing registry usage</a:t>
            </a:r>
          </a:p>
        </p:txBody>
      </p:sp>
      <p:sp>
        <p:nvSpPr>
          <p:cNvPr id="15" name="TextBox 14"/>
          <p:cNvSpPr txBox="1"/>
          <p:nvPr/>
        </p:nvSpPr>
        <p:spPr>
          <a:xfrm>
            <a:off x="457200" y="3749040"/>
            <a:ext cx="4937760" cy="347472"/>
          </a:xfrm>
          <a:prstGeom prst="rect">
            <a:avLst/>
          </a:prstGeom>
          <a:noFill/>
        </p:spPr>
        <p:txBody>
          <a:bodyPr wrap="square">
            <a:spAutoFit/>
          </a:bodyPr>
          <a:lstStyle/>
          <a:p>
            <a:pPr algn="l"/>
            <a:r>
              <a:rPr sz="1300" b="1" i="0">
                <a:solidFill>
                  <a:srgbClr val="FF4D4D"/>
                </a:solidFill>
                <a:latin typeface="Calibri"/>
              </a:rPr>
              <a:t>Does NOT have at startup:</a:t>
            </a:r>
          </a:p>
        </p:txBody>
      </p:sp>
      <p:sp>
        <p:nvSpPr>
          <p:cNvPr id="16" name="TextBox 15"/>
          <p:cNvSpPr txBox="1"/>
          <p:nvPr/>
        </p:nvSpPr>
        <p:spPr>
          <a:xfrm>
            <a:off x="457200" y="4114800"/>
            <a:ext cx="5029200" cy="384048"/>
          </a:xfrm>
          <a:prstGeom prst="rect">
            <a:avLst/>
          </a:prstGeom>
          <a:noFill/>
        </p:spPr>
        <p:txBody>
          <a:bodyPr wrap="square">
            <a:spAutoFit/>
          </a:bodyPr>
          <a:lstStyle/>
          <a:p>
            <a:pPr algn="l"/>
            <a:r>
              <a:rPr sz="1250" b="0" i="0">
                <a:solidFill>
                  <a:srgbClr val="FF8888"/>
                </a:solidFill>
                <a:latin typeface="Calibri"/>
              </a:rPr>
              <a:t>✗  No MCP connection open</a:t>
            </a:r>
          </a:p>
        </p:txBody>
      </p:sp>
      <p:sp>
        <p:nvSpPr>
          <p:cNvPr id="17" name="TextBox 16"/>
          <p:cNvSpPr txBox="1"/>
          <p:nvPr/>
        </p:nvSpPr>
        <p:spPr>
          <a:xfrm>
            <a:off x="457200" y="4462272"/>
            <a:ext cx="5029200" cy="384048"/>
          </a:xfrm>
          <a:prstGeom prst="rect">
            <a:avLst/>
          </a:prstGeom>
          <a:noFill/>
        </p:spPr>
        <p:txBody>
          <a:bodyPr wrap="square">
            <a:spAutoFit/>
          </a:bodyPr>
          <a:lstStyle/>
          <a:p>
            <a:pPr algn="l"/>
            <a:r>
              <a:rPr sz="1250" b="0" i="0">
                <a:solidFill>
                  <a:srgbClr val="FF8888"/>
                </a:solidFill>
                <a:latin typeface="Calibri"/>
              </a:rPr>
              <a:t>✗  No MCP tools loaded</a:t>
            </a:r>
          </a:p>
        </p:txBody>
      </p:sp>
      <p:sp>
        <p:nvSpPr>
          <p:cNvPr id="18" name="TextBox 17"/>
          <p:cNvSpPr txBox="1"/>
          <p:nvPr/>
        </p:nvSpPr>
        <p:spPr>
          <a:xfrm>
            <a:off x="457200" y="4809744"/>
            <a:ext cx="5029200" cy="384048"/>
          </a:xfrm>
          <a:prstGeom prst="rect">
            <a:avLst/>
          </a:prstGeom>
          <a:noFill/>
        </p:spPr>
        <p:txBody>
          <a:bodyPr wrap="square">
            <a:spAutoFit/>
          </a:bodyPr>
          <a:lstStyle/>
          <a:p>
            <a:pPr algn="l"/>
            <a:r>
              <a:rPr sz="1250" b="0" i="0">
                <a:solidFill>
                  <a:srgbClr val="FF8888"/>
                </a:solidFill>
                <a:latin typeface="Calibri"/>
              </a:rPr>
              <a:t>✗  No SKILL.md loaded</a:t>
            </a:r>
          </a:p>
        </p:txBody>
      </p:sp>
      <p:sp>
        <p:nvSpPr>
          <p:cNvPr id="19" name="TextBox 18"/>
          <p:cNvSpPr txBox="1"/>
          <p:nvPr/>
        </p:nvSpPr>
        <p:spPr>
          <a:xfrm>
            <a:off x="457200" y="5157216"/>
            <a:ext cx="5029200" cy="384048"/>
          </a:xfrm>
          <a:prstGeom prst="rect">
            <a:avLst/>
          </a:prstGeom>
          <a:noFill/>
        </p:spPr>
        <p:txBody>
          <a:bodyPr wrap="square">
            <a:spAutoFit/>
          </a:bodyPr>
          <a:lstStyle/>
          <a:p>
            <a:pPr algn="l"/>
            <a:r>
              <a:rPr sz="1250" b="0" i="0">
                <a:solidFill>
                  <a:srgbClr val="FF8888"/>
                </a:solidFill>
                <a:latin typeface="Calibri"/>
              </a:rPr>
              <a:t>✗  No knowledge of available skills</a:t>
            </a:r>
          </a:p>
        </p:txBody>
      </p:sp>
      <p:sp>
        <p:nvSpPr>
          <p:cNvPr id="20" name="Rectangle 19"/>
          <p:cNvSpPr/>
          <p:nvPr/>
        </p:nvSpPr>
        <p:spPr>
          <a:xfrm>
            <a:off x="5806440" y="1371600"/>
            <a:ext cx="6080760" cy="233172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0" y="1463040"/>
            <a:ext cx="5760720" cy="411480"/>
          </a:xfrm>
          <a:prstGeom prst="rect">
            <a:avLst/>
          </a:prstGeom>
          <a:noFill/>
        </p:spPr>
        <p:txBody>
          <a:bodyPr wrap="square">
            <a:spAutoFit/>
          </a:bodyPr>
          <a:lstStyle/>
          <a:p>
            <a:pPr algn="l"/>
            <a:r>
              <a:rPr sz="1500" b="1" i="0">
                <a:solidFill>
                  <a:srgbClr val="FF9A00"/>
                </a:solidFill>
                <a:latin typeface="Calibri"/>
              </a:rPr>
              <a:t>Phase 1 — Pre-flight (framework)</a:t>
            </a:r>
          </a:p>
        </p:txBody>
      </p:sp>
      <p:sp>
        <p:nvSpPr>
          <p:cNvPr id="22" name="TextBox 21"/>
          <p:cNvSpPr txBox="1"/>
          <p:nvPr/>
        </p:nvSpPr>
        <p:spPr>
          <a:xfrm>
            <a:off x="5943600" y="1920240"/>
            <a:ext cx="5760720" cy="384048"/>
          </a:xfrm>
          <a:prstGeom prst="rect">
            <a:avLst/>
          </a:prstGeom>
          <a:noFill/>
        </p:spPr>
        <p:txBody>
          <a:bodyPr wrap="square">
            <a:spAutoFit/>
          </a:bodyPr>
          <a:lstStyle/>
          <a:p>
            <a:pPr algn="l"/>
            <a:r>
              <a:rPr sz="1250" b="0" i="0">
                <a:solidFill>
                  <a:srgbClr val="CCD6E0"/>
                </a:solidFill>
                <a:latin typeface="Calibri"/>
              </a:rPr>
              <a:t>1. search_registry_records(user_message)</a:t>
            </a:r>
          </a:p>
        </p:txBody>
      </p:sp>
      <p:sp>
        <p:nvSpPr>
          <p:cNvPr id="23" name="TextBox 22"/>
          <p:cNvSpPr txBox="1"/>
          <p:nvPr/>
        </p:nvSpPr>
        <p:spPr>
          <a:xfrm>
            <a:off x="5943600" y="2258568"/>
            <a:ext cx="5760720" cy="384048"/>
          </a:xfrm>
          <a:prstGeom prst="rect">
            <a:avLst/>
          </a:prstGeom>
          <a:noFill/>
        </p:spPr>
        <p:txBody>
          <a:bodyPr wrap="square">
            <a:spAutoFit/>
          </a:bodyPr>
          <a:lstStyle/>
          <a:p>
            <a:pPr algn="l"/>
            <a:r>
              <a:rPr sz="1250" b="0" i="0">
                <a:solidFill>
                  <a:srgbClr val="CCD6E0"/>
                </a:solidFill>
                <a:latin typeface="Calibri"/>
              </a:rPr>
              <a:t>2. Identify top AGENT_SKILLS result</a:t>
            </a:r>
          </a:p>
        </p:txBody>
      </p:sp>
      <p:sp>
        <p:nvSpPr>
          <p:cNvPr id="24" name="TextBox 23"/>
          <p:cNvSpPr txBox="1"/>
          <p:nvPr/>
        </p:nvSpPr>
        <p:spPr>
          <a:xfrm>
            <a:off x="5943600" y="2596896"/>
            <a:ext cx="5760720" cy="384048"/>
          </a:xfrm>
          <a:prstGeom prst="rect">
            <a:avLst/>
          </a:prstGeom>
          <a:noFill/>
        </p:spPr>
        <p:txBody>
          <a:bodyPr wrap="square">
            <a:spAutoFit/>
          </a:bodyPr>
          <a:lstStyle/>
          <a:p>
            <a:pPr algn="l"/>
            <a:r>
              <a:rPr sz="1250" b="0" i="0">
                <a:solidFill>
                  <a:srgbClr val="CCD6E0"/>
                </a:solidFill>
                <a:latin typeface="Calibri"/>
              </a:rPr>
              <a:t>3. Parse mcp_tools: from frontmatter</a:t>
            </a:r>
          </a:p>
        </p:txBody>
      </p:sp>
      <p:sp>
        <p:nvSpPr>
          <p:cNvPr id="25" name="TextBox 24"/>
          <p:cNvSpPr txBox="1"/>
          <p:nvPr/>
        </p:nvSpPr>
        <p:spPr>
          <a:xfrm>
            <a:off x="5943600" y="2935224"/>
            <a:ext cx="5760720" cy="384048"/>
          </a:xfrm>
          <a:prstGeom prst="rect">
            <a:avLst/>
          </a:prstGeom>
          <a:noFill/>
        </p:spPr>
        <p:txBody>
          <a:bodyPr wrap="square">
            <a:spAutoFit/>
          </a:bodyPr>
          <a:lstStyle/>
          <a:p>
            <a:pPr algn="l"/>
            <a:r>
              <a:rPr sz="1250" b="0" i="0">
                <a:solidFill>
                  <a:srgbClr val="CCD6E0"/>
                </a:solidFill>
                <a:latin typeface="Calibri"/>
              </a:rPr>
              <a:t>4. Open MCP connection, load ONLY those tools</a:t>
            </a:r>
          </a:p>
        </p:txBody>
      </p:sp>
      <p:sp>
        <p:nvSpPr>
          <p:cNvPr id="26" name="TextBox 25"/>
          <p:cNvSpPr txBox="1"/>
          <p:nvPr/>
        </p:nvSpPr>
        <p:spPr>
          <a:xfrm>
            <a:off x="5943600" y="3273552"/>
            <a:ext cx="5760720" cy="384048"/>
          </a:xfrm>
          <a:prstGeom prst="rect">
            <a:avLst/>
          </a:prstGeom>
          <a:noFill/>
        </p:spPr>
        <p:txBody>
          <a:bodyPr wrap="square">
            <a:spAutoFit/>
          </a:bodyPr>
          <a:lstStyle/>
          <a:p>
            <a:pPr algn="l"/>
            <a:r>
              <a:rPr sz="1250" b="0" i="0">
                <a:solidFill>
                  <a:srgbClr val="CCD6E0"/>
                </a:solidFill>
                <a:latin typeface="Calibri"/>
              </a:rPr>
              <a:t>5. Emit search results to UI panel</a:t>
            </a:r>
          </a:p>
        </p:txBody>
      </p:sp>
      <p:sp>
        <p:nvSpPr>
          <p:cNvPr id="27" name="Rectangle 26"/>
          <p:cNvSpPr/>
          <p:nvPr/>
        </p:nvSpPr>
        <p:spPr>
          <a:xfrm>
            <a:off x="5806440" y="3840480"/>
            <a:ext cx="6080760" cy="242316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0" y="3931920"/>
            <a:ext cx="5760720" cy="411480"/>
          </a:xfrm>
          <a:prstGeom prst="rect">
            <a:avLst/>
          </a:prstGeom>
          <a:noFill/>
        </p:spPr>
        <p:txBody>
          <a:bodyPr wrap="square">
            <a:spAutoFit/>
          </a:bodyPr>
          <a:lstStyle/>
          <a:p>
            <a:pPr algn="l"/>
            <a:r>
              <a:rPr sz="1500" b="1" i="0">
                <a:solidFill>
                  <a:srgbClr val="00C47F"/>
                </a:solidFill>
                <a:latin typeface="Calibri"/>
              </a:rPr>
              <a:t>Phase 2 — Strands Agent</a:t>
            </a:r>
          </a:p>
        </p:txBody>
      </p:sp>
      <p:sp>
        <p:nvSpPr>
          <p:cNvPr id="29" name="TextBox 28"/>
          <p:cNvSpPr txBox="1"/>
          <p:nvPr/>
        </p:nvSpPr>
        <p:spPr>
          <a:xfrm>
            <a:off x="5943600" y="4389120"/>
            <a:ext cx="5760720" cy="384048"/>
          </a:xfrm>
          <a:prstGeom prst="rect">
            <a:avLst/>
          </a:prstGeom>
          <a:noFill/>
        </p:spPr>
        <p:txBody>
          <a:bodyPr wrap="square">
            <a:spAutoFit/>
          </a:bodyPr>
          <a:lstStyle/>
          <a:p>
            <a:pPr algn="l"/>
            <a:r>
              <a:rPr sz="1250" b="0" i="0">
                <a:solidFill>
                  <a:srgbClr val="CCD6E0"/>
                </a:solidFill>
                <a:latin typeface="Calibri"/>
              </a:rPr>
              <a:t>1. Agent calls search_and_load_skill (tool)</a:t>
            </a:r>
          </a:p>
        </p:txBody>
      </p:sp>
      <p:sp>
        <p:nvSpPr>
          <p:cNvPr id="30" name="TextBox 29"/>
          <p:cNvSpPr txBox="1"/>
          <p:nvPr/>
        </p:nvSpPr>
        <p:spPr>
          <a:xfrm>
            <a:off x="5943600" y="4736592"/>
            <a:ext cx="5760720" cy="384048"/>
          </a:xfrm>
          <a:prstGeom prst="rect">
            <a:avLst/>
          </a:prstGeom>
          <a:noFill/>
        </p:spPr>
        <p:txBody>
          <a:bodyPr wrap="square">
            <a:spAutoFit/>
          </a:bodyPr>
          <a:lstStyle/>
          <a:p>
            <a:pPr algn="l"/>
            <a:r>
              <a:rPr sz="1250" b="0" i="0">
                <a:solidFill>
                  <a:srgbClr val="CCD6E0"/>
                </a:solidFill>
                <a:latin typeface="Calibri"/>
              </a:rPr>
              <a:t>2. Full SKILL.md loaded into agent context</a:t>
            </a:r>
          </a:p>
        </p:txBody>
      </p:sp>
      <p:sp>
        <p:nvSpPr>
          <p:cNvPr id="31" name="TextBox 30"/>
          <p:cNvSpPr txBox="1"/>
          <p:nvPr/>
        </p:nvSpPr>
        <p:spPr>
          <a:xfrm>
            <a:off x="5943600" y="5084064"/>
            <a:ext cx="5760720" cy="384048"/>
          </a:xfrm>
          <a:prstGeom prst="rect">
            <a:avLst/>
          </a:prstGeom>
          <a:noFill/>
        </p:spPr>
        <p:txBody>
          <a:bodyPr wrap="square">
            <a:spAutoFit/>
          </a:bodyPr>
          <a:lstStyle/>
          <a:p>
            <a:pPr algn="l"/>
            <a:r>
              <a:rPr sz="1250" b="0" i="0">
                <a:solidFill>
                  <a:srgbClr val="CCD6E0"/>
                </a:solidFill>
                <a:latin typeface="Calibri"/>
              </a:rPr>
              <a:t>3. Agent reads procedure, follows step-by-step</a:t>
            </a:r>
          </a:p>
        </p:txBody>
      </p:sp>
      <p:sp>
        <p:nvSpPr>
          <p:cNvPr id="32" name="TextBox 31"/>
          <p:cNvSpPr txBox="1"/>
          <p:nvPr/>
        </p:nvSpPr>
        <p:spPr>
          <a:xfrm>
            <a:off x="5943600" y="5431536"/>
            <a:ext cx="5760720" cy="384048"/>
          </a:xfrm>
          <a:prstGeom prst="rect">
            <a:avLst/>
          </a:prstGeom>
          <a:noFill/>
        </p:spPr>
        <p:txBody>
          <a:bodyPr wrap="square">
            <a:spAutoFit/>
          </a:bodyPr>
          <a:lstStyle/>
          <a:p>
            <a:pPr algn="l"/>
            <a:r>
              <a:rPr sz="1250" b="0" i="0">
                <a:solidFill>
                  <a:srgbClr val="CCD6E0"/>
                </a:solidFill>
                <a:latin typeface="Calibri"/>
              </a:rPr>
              <a:t>4. Calls MCP tools and python_exec as instructed</a:t>
            </a:r>
          </a:p>
        </p:txBody>
      </p:sp>
      <p:sp>
        <p:nvSpPr>
          <p:cNvPr id="33" name="TextBox 32"/>
          <p:cNvSpPr txBox="1"/>
          <p:nvPr/>
        </p:nvSpPr>
        <p:spPr>
          <a:xfrm>
            <a:off x="5943600" y="5779008"/>
            <a:ext cx="5760720" cy="384048"/>
          </a:xfrm>
          <a:prstGeom prst="rect">
            <a:avLst/>
          </a:prstGeom>
          <a:noFill/>
        </p:spPr>
        <p:txBody>
          <a:bodyPr wrap="square">
            <a:spAutoFit/>
          </a:bodyPr>
          <a:lstStyle/>
          <a:p>
            <a:pPr algn="l"/>
            <a:r>
              <a:rPr sz="1250" b="0" i="0">
                <a:solidFill>
                  <a:srgbClr val="CCD6E0"/>
                </a:solidFill>
                <a:latin typeface="Calibri"/>
              </a:rPr>
              <a:t>5. Bedrock (Claude Sonnet 4.6) produces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Registry vs AgentCore Gateway</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Adjacent but different — discovery catalog vs execution proxy</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417320"/>
            <a:ext cx="3246120" cy="402336"/>
          </a:xfrm>
          <a:prstGeom prst="rect">
            <a:avLst/>
          </a:prstGeom>
          <a:solidFill>
            <a:srgbClr val="006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72184"/>
            <a:ext cx="3108960" cy="320040"/>
          </a:xfrm>
          <a:prstGeom prst="rect">
            <a:avLst/>
          </a:prstGeom>
          <a:noFill/>
        </p:spPr>
        <p:txBody>
          <a:bodyPr wrap="square">
            <a:spAutoFit/>
          </a:bodyPr>
          <a:lstStyle/>
          <a:p>
            <a:pPr algn="l"/>
            <a:r>
              <a:rPr sz="1300" b="1" i="0">
                <a:solidFill>
                  <a:srgbClr val="FFFFFF"/>
                </a:solidFill>
                <a:latin typeface="Calibri"/>
              </a:rPr>
              <a:t>Dimension</a:t>
            </a:r>
          </a:p>
        </p:txBody>
      </p:sp>
      <p:sp>
        <p:nvSpPr>
          <p:cNvPr id="10" name="Rectangle 9"/>
          <p:cNvSpPr/>
          <p:nvPr/>
        </p:nvSpPr>
        <p:spPr>
          <a:xfrm>
            <a:off x="3657600" y="1417320"/>
            <a:ext cx="4114800" cy="402336"/>
          </a:xfrm>
          <a:prstGeom prst="rect">
            <a:avLst/>
          </a:prstGeom>
          <a:solidFill>
            <a:srgbClr val="004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1472184"/>
            <a:ext cx="3977640" cy="320040"/>
          </a:xfrm>
          <a:prstGeom prst="rect">
            <a:avLst/>
          </a:prstGeom>
          <a:noFill/>
        </p:spPr>
        <p:txBody>
          <a:bodyPr wrap="square">
            <a:spAutoFit/>
          </a:bodyPr>
          <a:lstStyle/>
          <a:p>
            <a:pPr algn="l"/>
            <a:r>
              <a:rPr sz="1300" b="1" i="0">
                <a:solidFill>
                  <a:srgbClr val="FFFFFF"/>
                </a:solidFill>
                <a:latin typeface="Calibri"/>
              </a:rPr>
              <a:t>AgentCore Gateway</a:t>
            </a:r>
          </a:p>
        </p:txBody>
      </p:sp>
      <p:sp>
        <p:nvSpPr>
          <p:cNvPr id="12" name="Rectangle 11"/>
          <p:cNvSpPr/>
          <p:nvPr/>
        </p:nvSpPr>
        <p:spPr>
          <a:xfrm>
            <a:off x="7955279" y="1417320"/>
            <a:ext cx="4114800" cy="402336"/>
          </a:xfrm>
          <a:prstGeom prst="rect">
            <a:avLst/>
          </a:prstGeom>
          <a:solidFill>
            <a:srgbClr val="004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1472184"/>
            <a:ext cx="3977640" cy="320040"/>
          </a:xfrm>
          <a:prstGeom prst="rect">
            <a:avLst/>
          </a:prstGeom>
          <a:noFill/>
        </p:spPr>
        <p:txBody>
          <a:bodyPr wrap="square">
            <a:spAutoFit/>
          </a:bodyPr>
          <a:lstStyle/>
          <a:p>
            <a:pPr algn="l"/>
            <a:r>
              <a:rPr sz="1300" b="1" i="0">
                <a:solidFill>
                  <a:srgbClr val="FFFFFF"/>
                </a:solidFill>
                <a:latin typeface="Calibri"/>
              </a:rPr>
              <a:t>AWS Agent Registry (this demo)</a:t>
            </a:r>
          </a:p>
        </p:txBody>
      </p:sp>
      <p:sp>
        <p:nvSpPr>
          <p:cNvPr id="14" name="Rectangle 13"/>
          <p:cNvSpPr/>
          <p:nvPr/>
        </p:nvSpPr>
        <p:spPr>
          <a:xfrm>
            <a:off x="274320" y="1847088"/>
            <a:ext cx="324612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1847088"/>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79" y="1847088"/>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01952"/>
            <a:ext cx="3108960" cy="621792"/>
          </a:xfrm>
          <a:prstGeom prst="rect">
            <a:avLst/>
          </a:prstGeom>
          <a:noFill/>
        </p:spPr>
        <p:txBody>
          <a:bodyPr wrap="square">
            <a:spAutoFit/>
          </a:bodyPr>
          <a:lstStyle/>
          <a:p>
            <a:pPr algn="l"/>
            <a:r>
              <a:rPr sz="1200" b="0" i="0">
                <a:solidFill>
                  <a:srgbClr val="FF9A00"/>
                </a:solidFill>
                <a:latin typeface="Calibri"/>
              </a:rPr>
              <a:t>What it is</a:t>
            </a:r>
          </a:p>
        </p:txBody>
      </p:sp>
      <p:sp>
        <p:nvSpPr>
          <p:cNvPr id="18" name="TextBox 17"/>
          <p:cNvSpPr txBox="1"/>
          <p:nvPr/>
        </p:nvSpPr>
        <p:spPr>
          <a:xfrm>
            <a:off x="3749040" y="1901952"/>
            <a:ext cx="3977640" cy="621792"/>
          </a:xfrm>
          <a:prstGeom prst="rect">
            <a:avLst/>
          </a:prstGeom>
          <a:noFill/>
        </p:spPr>
        <p:txBody>
          <a:bodyPr wrap="square">
            <a:spAutoFit/>
          </a:bodyPr>
          <a:lstStyle/>
          <a:p>
            <a:pPr algn="l"/>
            <a:r>
              <a:rPr sz="1200" b="0" i="0">
                <a:solidFill>
                  <a:srgbClr val="CCD6E0"/>
                </a:solidFill>
                <a:latin typeface="Calibri"/>
              </a:rPr>
              <a:t>Execution proxy / aggregator</a:t>
            </a:r>
          </a:p>
        </p:txBody>
      </p:sp>
      <p:sp>
        <p:nvSpPr>
          <p:cNvPr id="19" name="TextBox 18"/>
          <p:cNvSpPr txBox="1"/>
          <p:nvPr/>
        </p:nvSpPr>
        <p:spPr>
          <a:xfrm>
            <a:off x="8046719" y="1901952"/>
            <a:ext cx="3977640" cy="621792"/>
          </a:xfrm>
          <a:prstGeom prst="rect">
            <a:avLst/>
          </a:prstGeom>
          <a:noFill/>
        </p:spPr>
        <p:txBody>
          <a:bodyPr wrap="square">
            <a:spAutoFit/>
          </a:bodyPr>
          <a:lstStyle/>
          <a:p>
            <a:pPr algn="l"/>
            <a:r>
              <a:rPr sz="1200" b="0" i="0">
                <a:solidFill>
                  <a:srgbClr val="CCD6E0"/>
                </a:solidFill>
                <a:latin typeface="Calibri"/>
              </a:rPr>
              <a:t>Discovery catalog</a:t>
            </a:r>
          </a:p>
        </p:txBody>
      </p:sp>
      <p:sp>
        <p:nvSpPr>
          <p:cNvPr id="20" name="Rectangle 19"/>
          <p:cNvSpPr/>
          <p:nvPr/>
        </p:nvSpPr>
        <p:spPr>
          <a:xfrm>
            <a:off x="274320" y="2596896"/>
            <a:ext cx="324612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0" y="2596896"/>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2596896"/>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651760"/>
            <a:ext cx="3108960" cy="621792"/>
          </a:xfrm>
          <a:prstGeom prst="rect">
            <a:avLst/>
          </a:prstGeom>
          <a:noFill/>
        </p:spPr>
        <p:txBody>
          <a:bodyPr wrap="square">
            <a:spAutoFit/>
          </a:bodyPr>
          <a:lstStyle/>
          <a:p>
            <a:pPr algn="l"/>
            <a:r>
              <a:rPr sz="1200" b="0" i="0">
                <a:solidFill>
                  <a:srgbClr val="FF9A00"/>
                </a:solidFill>
                <a:latin typeface="Calibri"/>
              </a:rPr>
              <a:t>Semantic search</a:t>
            </a:r>
          </a:p>
        </p:txBody>
      </p:sp>
      <p:sp>
        <p:nvSpPr>
          <p:cNvPr id="24" name="TextBox 23"/>
          <p:cNvSpPr txBox="1"/>
          <p:nvPr/>
        </p:nvSpPr>
        <p:spPr>
          <a:xfrm>
            <a:off x="3749040" y="2651760"/>
            <a:ext cx="3977640" cy="621792"/>
          </a:xfrm>
          <a:prstGeom prst="rect">
            <a:avLst/>
          </a:prstGeom>
          <a:noFill/>
        </p:spPr>
        <p:txBody>
          <a:bodyPr wrap="square">
            <a:spAutoFit/>
          </a:bodyPr>
          <a:lstStyle/>
          <a:p>
            <a:pPr algn="l"/>
            <a:r>
              <a:rPr sz="1200" b="0" i="0">
                <a:solidFill>
                  <a:srgbClr val="CCD6E0"/>
                </a:solidFill>
                <a:latin typeface="Calibri"/>
              </a:rPr>
              <a:t>Built-in x_amz_bedrock_agentcore_search tool
(runs at invocation time inside gateway)</a:t>
            </a:r>
          </a:p>
        </p:txBody>
      </p:sp>
      <p:sp>
        <p:nvSpPr>
          <p:cNvPr id="25" name="TextBox 24"/>
          <p:cNvSpPr txBox="1"/>
          <p:nvPr/>
        </p:nvSpPr>
        <p:spPr>
          <a:xfrm>
            <a:off x="8046719" y="2651760"/>
            <a:ext cx="3977640" cy="621792"/>
          </a:xfrm>
          <a:prstGeom prst="rect">
            <a:avLst/>
          </a:prstGeom>
          <a:noFill/>
        </p:spPr>
        <p:txBody>
          <a:bodyPr wrap="square">
            <a:spAutoFit/>
          </a:bodyPr>
          <a:lstStyle/>
          <a:p>
            <a:pPr algn="l"/>
            <a:r>
              <a:rPr sz="1200" b="0" i="0">
                <a:solidFill>
                  <a:srgbClr val="CCD6E0"/>
                </a:solidFill>
                <a:latin typeface="Calibri"/>
              </a:rPr>
              <a:t>search_registry_records API
(called per-request by agent code)</a:t>
            </a:r>
          </a:p>
        </p:txBody>
      </p:sp>
      <p:sp>
        <p:nvSpPr>
          <p:cNvPr id="26" name="Rectangle 25"/>
          <p:cNvSpPr/>
          <p:nvPr/>
        </p:nvSpPr>
        <p:spPr>
          <a:xfrm>
            <a:off x="274320" y="3346704"/>
            <a:ext cx="324612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0" y="3346704"/>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55279" y="3346704"/>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401568"/>
            <a:ext cx="3108960" cy="621792"/>
          </a:xfrm>
          <a:prstGeom prst="rect">
            <a:avLst/>
          </a:prstGeom>
          <a:noFill/>
        </p:spPr>
        <p:txBody>
          <a:bodyPr wrap="square">
            <a:spAutoFit/>
          </a:bodyPr>
          <a:lstStyle/>
          <a:p>
            <a:pPr algn="l"/>
            <a:r>
              <a:rPr sz="1200" b="0" i="0">
                <a:solidFill>
                  <a:srgbClr val="FF9A00"/>
                </a:solidFill>
                <a:latin typeface="Calibri"/>
              </a:rPr>
              <a:t>Tool loading</a:t>
            </a:r>
          </a:p>
        </p:txBody>
      </p:sp>
      <p:sp>
        <p:nvSpPr>
          <p:cNvPr id="30" name="TextBox 29"/>
          <p:cNvSpPr txBox="1"/>
          <p:nvPr/>
        </p:nvSpPr>
        <p:spPr>
          <a:xfrm>
            <a:off x="3749040" y="3401568"/>
            <a:ext cx="3977640" cy="621792"/>
          </a:xfrm>
          <a:prstGeom prst="rect">
            <a:avLst/>
          </a:prstGeom>
          <a:noFill/>
        </p:spPr>
        <p:txBody>
          <a:bodyPr wrap="square">
            <a:spAutoFit/>
          </a:bodyPr>
          <a:lstStyle/>
          <a:p>
            <a:pPr algn="l"/>
            <a:r>
              <a:rPr sz="1200" b="0" i="0">
                <a:solidFill>
                  <a:srgbClr val="CCD6E0"/>
                </a:solidFill>
                <a:latin typeface="Calibri"/>
              </a:rPr>
              <a:t>Agent calls tools/list on gateway
→ all tools from all attached servers</a:t>
            </a:r>
          </a:p>
        </p:txBody>
      </p:sp>
      <p:sp>
        <p:nvSpPr>
          <p:cNvPr id="31" name="TextBox 30"/>
          <p:cNvSpPr txBox="1"/>
          <p:nvPr/>
        </p:nvSpPr>
        <p:spPr>
          <a:xfrm>
            <a:off x="8046719" y="3401568"/>
            <a:ext cx="3977640" cy="621792"/>
          </a:xfrm>
          <a:prstGeom prst="rect">
            <a:avLst/>
          </a:prstGeom>
          <a:noFill/>
        </p:spPr>
        <p:txBody>
          <a:bodyPr wrap="square">
            <a:spAutoFit/>
          </a:bodyPr>
          <a:lstStyle/>
          <a:p>
            <a:pPr algn="l"/>
            <a:r>
              <a:rPr sz="1200" b="0" i="0">
                <a:solidFill>
                  <a:srgbClr val="CCD6E0"/>
                </a:solidFill>
                <a:latin typeface="Calibri"/>
              </a:rPr>
              <a:t>Agent connects directly to MCP server
→ loads only declared tools (custom pattern)</a:t>
            </a:r>
          </a:p>
        </p:txBody>
      </p:sp>
      <p:sp>
        <p:nvSpPr>
          <p:cNvPr id="32" name="Rectangle 31"/>
          <p:cNvSpPr/>
          <p:nvPr/>
        </p:nvSpPr>
        <p:spPr>
          <a:xfrm>
            <a:off x="274320" y="4096512"/>
            <a:ext cx="324612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0" y="4096512"/>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79" y="4096512"/>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151376"/>
            <a:ext cx="3108960" cy="621792"/>
          </a:xfrm>
          <a:prstGeom prst="rect">
            <a:avLst/>
          </a:prstGeom>
          <a:noFill/>
        </p:spPr>
        <p:txBody>
          <a:bodyPr wrap="square">
            <a:spAutoFit/>
          </a:bodyPr>
          <a:lstStyle/>
          <a:p>
            <a:pPr algn="l"/>
            <a:r>
              <a:rPr sz="1200" b="0" i="0">
                <a:solidFill>
                  <a:srgbClr val="FF9A00"/>
                </a:solidFill>
                <a:latin typeface="Calibri"/>
              </a:rPr>
              <a:t>Filtering</a:t>
            </a:r>
          </a:p>
        </p:txBody>
      </p:sp>
      <p:sp>
        <p:nvSpPr>
          <p:cNvPr id="36" name="TextBox 35"/>
          <p:cNvSpPr txBox="1"/>
          <p:nvPr/>
        </p:nvSpPr>
        <p:spPr>
          <a:xfrm>
            <a:off x="3749040" y="4151376"/>
            <a:ext cx="3977640" cy="621792"/>
          </a:xfrm>
          <a:prstGeom prst="rect">
            <a:avLst/>
          </a:prstGeom>
          <a:noFill/>
        </p:spPr>
        <p:txBody>
          <a:bodyPr wrap="square">
            <a:spAutoFit/>
          </a:bodyPr>
          <a:lstStyle/>
          <a:p>
            <a:pPr algn="l"/>
            <a:r>
              <a:rPr sz="1200" b="0" i="0">
                <a:solidFill>
                  <a:srgbClr val="CCD6E0"/>
                </a:solidFill>
                <a:latin typeface="Calibri"/>
              </a:rPr>
              <a:t>Agent calls search tool; gateway returns
semanticaly relevant subset</a:t>
            </a:r>
          </a:p>
        </p:txBody>
      </p:sp>
      <p:sp>
        <p:nvSpPr>
          <p:cNvPr id="37" name="TextBox 36"/>
          <p:cNvSpPr txBox="1"/>
          <p:nvPr/>
        </p:nvSpPr>
        <p:spPr>
          <a:xfrm>
            <a:off x="8046719" y="4151376"/>
            <a:ext cx="3977640" cy="621792"/>
          </a:xfrm>
          <a:prstGeom prst="rect">
            <a:avLst/>
          </a:prstGeom>
          <a:noFill/>
        </p:spPr>
        <p:txBody>
          <a:bodyPr wrap="square">
            <a:spAutoFit/>
          </a:bodyPr>
          <a:lstStyle/>
          <a:p>
            <a:pPr algn="l"/>
            <a:r>
              <a:rPr sz="1200" b="0" i="0">
                <a:solidFill>
                  <a:srgbClr val="CCD6E0"/>
                </a:solidFill>
                <a:latin typeface="Calibri"/>
              </a:rPr>
              <a:t>Agent parses mcp_tools: from SKILL.md
and filters client-side (custom code)</a:t>
            </a:r>
          </a:p>
        </p:txBody>
      </p:sp>
      <p:sp>
        <p:nvSpPr>
          <p:cNvPr id="38" name="Rectangle 37"/>
          <p:cNvSpPr/>
          <p:nvPr/>
        </p:nvSpPr>
        <p:spPr>
          <a:xfrm>
            <a:off x="274320" y="4846320"/>
            <a:ext cx="324612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0" y="4846320"/>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55279" y="4846320"/>
            <a:ext cx="4114800" cy="713232"/>
          </a:xfrm>
          <a:prstGeom prst="rect">
            <a:avLst/>
          </a:prstGeom>
          <a:solidFill>
            <a:srgbClr val="0C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901184"/>
            <a:ext cx="3108960" cy="621792"/>
          </a:xfrm>
          <a:prstGeom prst="rect">
            <a:avLst/>
          </a:prstGeom>
          <a:noFill/>
        </p:spPr>
        <p:txBody>
          <a:bodyPr wrap="square">
            <a:spAutoFit/>
          </a:bodyPr>
          <a:lstStyle/>
          <a:p>
            <a:pPr algn="l"/>
            <a:r>
              <a:rPr sz="1200" b="0" i="0">
                <a:solidFill>
                  <a:srgbClr val="FF9A00"/>
                </a:solidFill>
                <a:latin typeface="Calibri"/>
              </a:rPr>
              <a:t>Skills/procedures</a:t>
            </a:r>
          </a:p>
        </p:txBody>
      </p:sp>
      <p:sp>
        <p:nvSpPr>
          <p:cNvPr id="42" name="TextBox 41"/>
          <p:cNvSpPr txBox="1"/>
          <p:nvPr/>
        </p:nvSpPr>
        <p:spPr>
          <a:xfrm>
            <a:off x="3749040" y="4901184"/>
            <a:ext cx="3977640" cy="621792"/>
          </a:xfrm>
          <a:prstGeom prst="rect">
            <a:avLst/>
          </a:prstGeom>
          <a:noFill/>
        </p:spPr>
        <p:txBody>
          <a:bodyPr wrap="square">
            <a:spAutoFit/>
          </a:bodyPr>
          <a:lstStyle/>
          <a:p>
            <a:pPr algn="l"/>
            <a:r>
              <a:rPr sz="1200" b="0" i="0">
                <a:solidFill>
                  <a:srgbClr val="CCD6E0"/>
                </a:solidFill>
                <a:latin typeface="Calibri"/>
              </a:rPr>
              <a:t>Not a Gateway concept</a:t>
            </a:r>
          </a:p>
        </p:txBody>
      </p:sp>
      <p:sp>
        <p:nvSpPr>
          <p:cNvPr id="43" name="TextBox 42"/>
          <p:cNvSpPr txBox="1"/>
          <p:nvPr/>
        </p:nvSpPr>
        <p:spPr>
          <a:xfrm>
            <a:off x="8046719" y="4901184"/>
            <a:ext cx="3977640" cy="621792"/>
          </a:xfrm>
          <a:prstGeom prst="rect">
            <a:avLst/>
          </a:prstGeom>
          <a:noFill/>
        </p:spPr>
        <p:txBody>
          <a:bodyPr wrap="square">
            <a:spAutoFit/>
          </a:bodyPr>
          <a:lstStyle/>
          <a:p>
            <a:pPr algn="l"/>
            <a:r>
              <a:rPr sz="1200" b="0" i="0">
                <a:solidFill>
                  <a:srgbClr val="CCD6E0"/>
                </a:solidFill>
                <a:latin typeface="Calibri"/>
              </a:rPr>
              <a:t>AGENT_SKILLS records store step-by-step instructions</a:t>
            </a:r>
          </a:p>
        </p:txBody>
      </p:sp>
      <p:sp>
        <p:nvSpPr>
          <p:cNvPr id="44" name="Rectangle 43"/>
          <p:cNvSpPr/>
          <p:nvPr/>
        </p:nvSpPr>
        <p:spPr>
          <a:xfrm>
            <a:off x="274320" y="5596128"/>
            <a:ext cx="324612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57600" y="5596128"/>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55279" y="5596128"/>
            <a:ext cx="4114800" cy="713232"/>
          </a:xfrm>
          <a:prstGeom prst="rect">
            <a:avLst/>
          </a:prstGeom>
          <a:solidFill>
            <a:srgbClr val="0A1A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5650992"/>
            <a:ext cx="3108960" cy="621792"/>
          </a:xfrm>
          <a:prstGeom prst="rect">
            <a:avLst/>
          </a:prstGeom>
          <a:noFill/>
        </p:spPr>
        <p:txBody>
          <a:bodyPr wrap="square">
            <a:spAutoFit/>
          </a:bodyPr>
          <a:lstStyle/>
          <a:p>
            <a:pPr algn="l"/>
            <a:r>
              <a:rPr sz="1200" b="0" i="0">
                <a:solidFill>
                  <a:srgbClr val="FF9A00"/>
                </a:solidFill>
                <a:latin typeface="Calibri"/>
              </a:rPr>
              <a:t>Who filters tools</a:t>
            </a:r>
          </a:p>
        </p:txBody>
      </p:sp>
      <p:sp>
        <p:nvSpPr>
          <p:cNvPr id="48" name="TextBox 47"/>
          <p:cNvSpPr txBox="1"/>
          <p:nvPr/>
        </p:nvSpPr>
        <p:spPr>
          <a:xfrm>
            <a:off x="3749040" y="5650992"/>
            <a:ext cx="3977640" cy="621792"/>
          </a:xfrm>
          <a:prstGeom prst="rect">
            <a:avLst/>
          </a:prstGeom>
          <a:noFill/>
        </p:spPr>
        <p:txBody>
          <a:bodyPr wrap="square">
            <a:spAutoFit/>
          </a:bodyPr>
          <a:lstStyle/>
          <a:p>
            <a:pPr algn="l"/>
            <a:r>
              <a:rPr sz="1200" b="0" i="0">
                <a:solidFill>
                  <a:srgbClr val="CCD6E0"/>
                </a:solidFill>
                <a:latin typeface="Calibri"/>
              </a:rPr>
              <a:t>Gateway (via semantic search tool)</a:t>
            </a:r>
          </a:p>
        </p:txBody>
      </p:sp>
      <p:sp>
        <p:nvSpPr>
          <p:cNvPr id="49" name="TextBox 48"/>
          <p:cNvSpPr txBox="1"/>
          <p:nvPr/>
        </p:nvSpPr>
        <p:spPr>
          <a:xfrm>
            <a:off x="8046719" y="5650992"/>
            <a:ext cx="3977640" cy="621792"/>
          </a:xfrm>
          <a:prstGeom prst="rect">
            <a:avLst/>
          </a:prstGeom>
          <a:noFill/>
        </p:spPr>
        <p:txBody>
          <a:bodyPr wrap="square">
            <a:spAutoFit/>
          </a:bodyPr>
          <a:lstStyle/>
          <a:p>
            <a:pPr algn="l"/>
            <a:r>
              <a:rPr sz="1200" b="0" i="0">
                <a:solidFill>
                  <a:srgbClr val="CCD6E0"/>
                </a:solidFill>
                <a:latin typeface="Calibri"/>
              </a:rPr>
              <a:t>Agent code (custom — not a registry feature)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Demo Walk-Through — Requests 1 &amp; 2</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Quarterly KPI Calculator · Executive Financial Briefing</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371600"/>
            <a:ext cx="11612880" cy="237744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11247120" cy="457200"/>
          </a:xfrm>
          <a:prstGeom prst="rect">
            <a:avLst/>
          </a:prstGeom>
          <a:noFill/>
        </p:spPr>
        <p:txBody>
          <a:bodyPr wrap="square">
            <a:spAutoFit/>
          </a:bodyPr>
          <a:lstStyle/>
          <a:p>
            <a:pPr algn="l"/>
            <a:r>
              <a:rPr sz="1700" b="1" i="0">
                <a:solidFill>
                  <a:srgbClr val="FF9A00"/>
                </a:solidFill>
                <a:latin typeface="Calibri"/>
              </a:rPr>
              <a:t>Request 1:  "Calculate KPIs for Q3 2025"</a:t>
            </a:r>
          </a:p>
        </p:txBody>
      </p:sp>
      <p:sp>
        <p:nvSpPr>
          <p:cNvPr id="10" name="TextBox 9"/>
          <p:cNvSpPr txBox="1"/>
          <p:nvPr/>
        </p:nvSpPr>
        <p:spPr>
          <a:xfrm>
            <a:off x="457200" y="1920240"/>
            <a:ext cx="10972800" cy="347472"/>
          </a:xfrm>
          <a:prstGeom prst="rect">
            <a:avLst/>
          </a:prstGeom>
          <a:noFill/>
        </p:spPr>
        <p:txBody>
          <a:bodyPr wrap="square">
            <a:spAutoFit/>
          </a:bodyPr>
          <a:lstStyle/>
          <a:p>
            <a:pPr algn="l"/>
            <a:r>
              <a:rPr sz="1400" b="0" i="0">
                <a:solidFill>
                  <a:srgbClr val="00C47F"/>
                </a:solidFill>
                <a:latin typeface="Calibri"/>
              </a:rPr>
              <a:t>Skill matched: quarterly-kpi-calculator</a:t>
            </a:r>
          </a:p>
        </p:txBody>
      </p:sp>
      <p:sp>
        <p:nvSpPr>
          <p:cNvPr id="11" name="TextBox 10"/>
          <p:cNvSpPr txBox="1"/>
          <p:nvPr/>
        </p:nvSpPr>
        <p:spPr>
          <a:xfrm>
            <a:off x="457200" y="2286000"/>
            <a:ext cx="11247120" cy="1325880"/>
          </a:xfrm>
          <a:prstGeom prst="rect">
            <a:avLst/>
          </a:prstGeom>
          <a:noFill/>
        </p:spPr>
        <p:txBody>
          <a:bodyPr wrap="square">
            <a:spAutoFit/>
          </a:bodyPr>
          <a:lstStyle/>
          <a:p>
            <a:pPr algn="l"/>
            <a:r>
              <a:rPr sz="1300" b="0" i="0">
                <a:solidFill>
                  <a:srgbClr val="CCD6E0"/>
                </a:solidFill>
                <a:latin typeface="Calibri"/>
              </a:rPr>
              <a:t>Phase 1: search_registry_records → top match: quarterly-kpi-calculator  →  mcp_tools: [get_financial_data, get_kpi_benchmarks]  →  2 tools loaded
Phase 2: search_and_load_skill → full SKILL.md loaded → agent follows 5-step procedure
MCP calls: get_kpi_benchmarks ×1,  get_financial_data ×2 (Q3, Q2 for QoQ)  →  python_exec calculates KPIs
Output: KPI table with Gross Margin 55%, EBITDA 30%, OpEx 25%, Revenue Growth +10.5%  +  benchmark status</a:t>
            </a:r>
          </a:p>
        </p:txBody>
      </p:sp>
      <p:sp>
        <p:nvSpPr>
          <p:cNvPr id="12" name="Rectangle 11"/>
          <p:cNvSpPr/>
          <p:nvPr/>
        </p:nvSpPr>
        <p:spPr>
          <a:xfrm>
            <a:off x="274320" y="3886200"/>
            <a:ext cx="11612880" cy="237744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977639"/>
            <a:ext cx="11247120" cy="457200"/>
          </a:xfrm>
          <a:prstGeom prst="rect">
            <a:avLst/>
          </a:prstGeom>
          <a:noFill/>
        </p:spPr>
        <p:txBody>
          <a:bodyPr wrap="square">
            <a:spAutoFit/>
          </a:bodyPr>
          <a:lstStyle/>
          <a:p>
            <a:pPr algn="l"/>
            <a:r>
              <a:rPr sz="1700" b="1" i="0">
                <a:solidFill>
                  <a:srgbClr val="FF9A00"/>
                </a:solidFill>
                <a:latin typeface="Calibri"/>
              </a:rPr>
              <a:t>Request 2:  "Give me an executive financial briefing"</a:t>
            </a:r>
          </a:p>
        </p:txBody>
      </p:sp>
      <p:sp>
        <p:nvSpPr>
          <p:cNvPr id="14" name="TextBox 13"/>
          <p:cNvSpPr txBox="1"/>
          <p:nvPr/>
        </p:nvSpPr>
        <p:spPr>
          <a:xfrm>
            <a:off x="457200" y="4434840"/>
            <a:ext cx="10972800" cy="347472"/>
          </a:xfrm>
          <a:prstGeom prst="rect">
            <a:avLst/>
          </a:prstGeom>
          <a:noFill/>
        </p:spPr>
        <p:txBody>
          <a:bodyPr wrap="square">
            <a:spAutoFit/>
          </a:bodyPr>
          <a:lstStyle/>
          <a:p>
            <a:pPr algn="l"/>
            <a:r>
              <a:rPr sz="1400" b="0" i="0">
                <a:solidFill>
                  <a:srgbClr val="00C47F"/>
                </a:solidFill>
                <a:latin typeface="Calibri"/>
              </a:rPr>
              <a:t>Skill matched: executive-financial-briefing</a:t>
            </a:r>
          </a:p>
        </p:txBody>
      </p:sp>
      <p:sp>
        <p:nvSpPr>
          <p:cNvPr id="15" name="TextBox 14"/>
          <p:cNvSpPr txBox="1"/>
          <p:nvPr/>
        </p:nvSpPr>
        <p:spPr>
          <a:xfrm>
            <a:off x="457200" y="4800600"/>
            <a:ext cx="11247120" cy="1325880"/>
          </a:xfrm>
          <a:prstGeom prst="rect">
            <a:avLst/>
          </a:prstGeom>
          <a:noFill/>
        </p:spPr>
        <p:txBody>
          <a:bodyPr wrap="square">
            <a:spAutoFit/>
          </a:bodyPr>
          <a:lstStyle/>
          <a:p>
            <a:pPr algn="l"/>
            <a:r>
              <a:rPr sz="1300" b="0" i="0">
                <a:solidFill>
                  <a:srgbClr val="CCD6E0"/>
                </a:solidFill>
                <a:latin typeface="Calibri"/>
              </a:rPr>
              <a:t>Phase 1: same search call, different query → different top match: executive-financial-briefing
Per-request context rebuilt from scratch — MCP tools from Request 1 are gone
Phase 2: different SKILL.md — 5 mandatory sections: Headline Numbers, vs Benchmarks, Working, Watch, Actions
Same tools loaded (same mcp_tools: list in this skill), completely different output format and narrative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Demo Walk-Through — Requests 3 &amp; 4</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Multi-Quarter Trend · Meta-question: What skills do you have?</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371600"/>
            <a:ext cx="11612880" cy="219456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11247120" cy="457200"/>
          </a:xfrm>
          <a:prstGeom prst="rect">
            <a:avLst/>
          </a:prstGeom>
          <a:noFill/>
        </p:spPr>
        <p:txBody>
          <a:bodyPr wrap="square">
            <a:spAutoFit/>
          </a:bodyPr>
          <a:lstStyle/>
          <a:p>
            <a:pPr algn="l"/>
            <a:r>
              <a:rPr sz="1700" b="1" i="0">
                <a:solidFill>
                  <a:srgbClr val="FF9A00"/>
                </a:solidFill>
                <a:latin typeface="Calibri"/>
              </a:rPr>
              <a:t>Request 3:  "Show me revenue trend across all quarters"</a:t>
            </a:r>
          </a:p>
        </p:txBody>
      </p:sp>
      <p:sp>
        <p:nvSpPr>
          <p:cNvPr id="10" name="TextBox 9"/>
          <p:cNvSpPr txBox="1"/>
          <p:nvPr/>
        </p:nvSpPr>
        <p:spPr>
          <a:xfrm>
            <a:off x="457200" y="1920240"/>
            <a:ext cx="10972800" cy="347472"/>
          </a:xfrm>
          <a:prstGeom prst="rect">
            <a:avLst/>
          </a:prstGeom>
          <a:noFill/>
        </p:spPr>
        <p:txBody>
          <a:bodyPr wrap="square">
            <a:spAutoFit/>
          </a:bodyPr>
          <a:lstStyle/>
          <a:p>
            <a:pPr algn="l"/>
            <a:r>
              <a:rPr sz="1400" b="0" i="0">
                <a:solidFill>
                  <a:srgbClr val="00C47F"/>
                </a:solidFill>
                <a:latin typeface="Calibri"/>
              </a:rPr>
              <a:t>Skill matched: multi-quarter-trend-analysis</a:t>
            </a:r>
          </a:p>
        </p:txBody>
      </p:sp>
      <p:sp>
        <p:nvSpPr>
          <p:cNvPr id="11" name="TextBox 10"/>
          <p:cNvSpPr txBox="1"/>
          <p:nvPr/>
        </p:nvSpPr>
        <p:spPr>
          <a:xfrm>
            <a:off x="457200" y="2286000"/>
            <a:ext cx="11247120" cy="1234440"/>
          </a:xfrm>
          <a:prstGeom prst="rect">
            <a:avLst/>
          </a:prstGeom>
          <a:noFill/>
        </p:spPr>
        <p:txBody>
          <a:bodyPr wrap="square">
            <a:spAutoFit/>
          </a:bodyPr>
          <a:lstStyle/>
          <a:p>
            <a:pPr algn="l"/>
            <a:r>
              <a:rPr sz="1300" b="0" i="0">
                <a:solidFill>
                  <a:srgbClr val="CCD6E0"/>
                </a:solidFill>
                <a:latin typeface="Calibri"/>
              </a:rPr>
              <a:t>SKILL.md instructs agent to fetch all 4 quarters: Q4 2024, Q1 2025, Q2 2025, Q3 2025
4 calls to get_financial_data (one per quarter) + get_kpi_benchmarks
Output: trend narrative — growth direction, acceleration/deceleration, key inflection points
Same pattern: different skill record, different behavior, same agent, same infrastructure</a:t>
            </a:r>
          </a:p>
        </p:txBody>
      </p:sp>
      <p:sp>
        <p:nvSpPr>
          <p:cNvPr id="12" name="Rectangle 11"/>
          <p:cNvSpPr/>
          <p:nvPr/>
        </p:nvSpPr>
        <p:spPr>
          <a:xfrm>
            <a:off x="274320" y="3749039"/>
            <a:ext cx="11612880" cy="251460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840480"/>
            <a:ext cx="11247120" cy="457200"/>
          </a:xfrm>
          <a:prstGeom prst="rect">
            <a:avLst/>
          </a:prstGeom>
          <a:noFill/>
        </p:spPr>
        <p:txBody>
          <a:bodyPr wrap="square">
            <a:spAutoFit/>
          </a:bodyPr>
          <a:lstStyle/>
          <a:p>
            <a:pPr algn="l"/>
            <a:r>
              <a:rPr sz="1700" b="1" i="0">
                <a:solidFill>
                  <a:srgbClr val="FF9A00"/>
                </a:solidFill>
                <a:latin typeface="Calibri"/>
              </a:rPr>
              <a:t>Request 4:  "What financial skills do you have access to?"</a:t>
            </a:r>
          </a:p>
        </p:txBody>
      </p:sp>
      <p:sp>
        <p:nvSpPr>
          <p:cNvPr id="14" name="TextBox 13"/>
          <p:cNvSpPr txBox="1"/>
          <p:nvPr/>
        </p:nvSpPr>
        <p:spPr>
          <a:xfrm>
            <a:off x="457200" y="4297680"/>
            <a:ext cx="10972800" cy="347472"/>
          </a:xfrm>
          <a:prstGeom prst="rect">
            <a:avLst/>
          </a:prstGeom>
          <a:noFill/>
        </p:spPr>
        <p:txBody>
          <a:bodyPr wrap="square">
            <a:spAutoFit/>
          </a:bodyPr>
          <a:lstStyle/>
          <a:p>
            <a:pPr algn="l"/>
            <a:r>
              <a:rPr sz="1400" b="0" i="0">
                <a:solidFill>
                  <a:srgbClr val="00A8E8"/>
                </a:solidFill>
                <a:latin typeface="Calibri"/>
              </a:rPr>
              <a:t>Meta-question — agent self-describes from registry</a:t>
            </a:r>
          </a:p>
        </p:txBody>
      </p:sp>
      <p:sp>
        <p:nvSpPr>
          <p:cNvPr id="15" name="TextBox 14"/>
          <p:cNvSpPr txBox="1"/>
          <p:nvPr/>
        </p:nvSpPr>
        <p:spPr>
          <a:xfrm>
            <a:off x="457200" y="4663440"/>
            <a:ext cx="11247120" cy="1463040"/>
          </a:xfrm>
          <a:prstGeom prst="rect">
            <a:avLst/>
          </a:prstGeom>
          <a:noFill/>
        </p:spPr>
        <p:txBody>
          <a:bodyPr wrap="square">
            <a:spAutoFit/>
          </a:bodyPr>
          <a:lstStyle/>
          <a:p>
            <a:pPr algn="l"/>
            <a:r>
              <a:rPr sz="1300" b="0" i="0">
                <a:solidFill>
                  <a:srgbClr val="CCD6E0"/>
                </a:solidFill>
                <a:latin typeface="Calibri"/>
              </a:rPr>
              <a:t>No special handling. Phase 1 still runs: registry search with this question as query.
Top AGENT_SKILLS match = whichever skill is semantically closest to the meta-question.
Phase 2: agent calls search_and_load_skill → gets ranked candidate list with all 5 skill descriptions.
Agent uses that list to answer the meta-question — no hardcoded skill inventory anywhere.
Key point: there is no 'list skills' mode. The agent answers every question the same way — by searching the registry.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612880" cy="685800"/>
          </a:xfrm>
          <a:prstGeom prst="rect">
            <a:avLst/>
          </a:prstGeom>
          <a:noFill/>
        </p:spPr>
        <p:txBody>
          <a:bodyPr wrap="square">
            <a:spAutoFit/>
          </a:bodyPr>
          <a:lstStyle/>
          <a:p>
            <a:pPr algn="l"/>
            <a:r>
              <a:rPr sz="3200" b="1" i="0">
                <a:solidFill>
                  <a:srgbClr val="FFFFFF"/>
                </a:solidFill>
                <a:latin typeface="Calibri"/>
              </a:rPr>
              <a:t>Key Technical Reference</a:t>
            </a:r>
          </a:p>
        </p:txBody>
      </p:sp>
      <p:sp>
        <p:nvSpPr>
          <p:cNvPr id="6" name="TextBox 5"/>
          <p:cNvSpPr txBox="1"/>
          <p:nvPr/>
        </p:nvSpPr>
        <p:spPr>
          <a:xfrm>
            <a:off x="274320" y="804672"/>
            <a:ext cx="11612880" cy="411480"/>
          </a:xfrm>
          <a:prstGeom prst="rect">
            <a:avLst/>
          </a:prstGeom>
          <a:noFill/>
        </p:spPr>
        <p:txBody>
          <a:bodyPr wrap="square">
            <a:spAutoFit/>
          </a:bodyPr>
          <a:lstStyle/>
          <a:p>
            <a:pPr algn="l"/>
            <a:r>
              <a:rPr sz="1600" b="0" i="0">
                <a:solidFill>
                  <a:srgbClr val="00A8E8"/>
                </a:solidFill>
                <a:latin typeface="Calibri"/>
              </a:rPr>
              <a:t>Endpoints, IDs, and critical code patterns</a:t>
            </a:r>
          </a:p>
        </p:txBody>
      </p:sp>
      <p:sp>
        <p:nvSpPr>
          <p:cNvPr id="7" name="TextBox 6"/>
          <p:cNvSpPr txBox="1"/>
          <p:nvPr/>
        </p:nvSpPr>
        <p:spPr>
          <a:xfrm>
            <a:off x="274320" y="6492240"/>
            <a:ext cx="8229600" cy="320040"/>
          </a:xfrm>
          <a:prstGeom prst="rect">
            <a:avLst/>
          </a:prstGeom>
          <a:noFill/>
        </p:spPr>
        <p:txBody>
          <a:bodyPr wrap="square">
            <a:spAutoFit/>
          </a:bodyPr>
          <a:lstStyle/>
          <a:p>
            <a:pPr algn="l"/>
            <a:r>
              <a:rPr sz="1000" b="0" i="0">
                <a:solidFill>
                  <a:srgbClr val="667A8C"/>
                </a:solidFill>
                <a:latin typeface="Calibri"/>
              </a:rPr>
              <a:t>AWS Agent Registry Demo</a:t>
            </a:r>
          </a:p>
        </p:txBody>
      </p:sp>
      <p:sp>
        <p:nvSpPr>
          <p:cNvPr id="8" name="Rectangle 7"/>
          <p:cNvSpPr/>
          <p:nvPr/>
        </p:nvSpPr>
        <p:spPr>
          <a:xfrm>
            <a:off x="274320" y="1371600"/>
            <a:ext cx="5394960" cy="5029200"/>
          </a:xfrm>
          <a:prstGeom prst="rect">
            <a:avLst/>
          </a:prstGeom>
          <a:solidFill>
            <a:srgbClr val="07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5029200" cy="411480"/>
          </a:xfrm>
          <a:prstGeom prst="rect">
            <a:avLst/>
          </a:prstGeom>
          <a:noFill/>
        </p:spPr>
        <p:txBody>
          <a:bodyPr wrap="square">
            <a:spAutoFit/>
          </a:bodyPr>
          <a:lstStyle/>
          <a:p>
            <a:pPr algn="l"/>
            <a:r>
              <a:rPr sz="1600" b="1" i="0">
                <a:solidFill>
                  <a:srgbClr val="00A8E8"/>
                </a:solidFill>
                <a:latin typeface="Calibri"/>
              </a:rPr>
              <a:t>Deployed Endpoints &amp; IDs</a:t>
            </a:r>
          </a:p>
        </p:txBody>
      </p:sp>
      <p:sp>
        <p:nvSpPr>
          <p:cNvPr id="10" name="TextBox 9"/>
          <p:cNvSpPr txBox="1"/>
          <p:nvPr/>
        </p:nvSpPr>
        <p:spPr>
          <a:xfrm>
            <a:off x="457200" y="1920240"/>
            <a:ext cx="1828800" cy="365760"/>
          </a:xfrm>
          <a:prstGeom prst="rect">
            <a:avLst/>
          </a:prstGeom>
          <a:noFill/>
        </p:spPr>
        <p:txBody>
          <a:bodyPr wrap="square">
            <a:spAutoFit/>
          </a:bodyPr>
          <a:lstStyle/>
          <a:p>
            <a:pPr algn="l"/>
            <a:r>
              <a:rPr sz="1200" b="1" i="0">
                <a:solidFill>
                  <a:srgbClr val="FF9A00"/>
                </a:solidFill>
                <a:latin typeface="Calibri"/>
              </a:rPr>
              <a:t>Demo URL:</a:t>
            </a:r>
          </a:p>
        </p:txBody>
      </p:sp>
      <p:sp>
        <p:nvSpPr>
          <p:cNvPr id="11" name="TextBox 10"/>
          <p:cNvSpPr txBox="1"/>
          <p:nvPr/>
        </p:nvSpPr>
        <p:spPr>
          <a:xfrm>
            <a:off x="2331720" y="1920240"/>
            <a:ext cx="3200400" cy="502920"/>
          </a:xfrm>
          <a:prstGeom prst="rect">
            <a:avLst/>
          </a:prstGeom>
          <a:noFill/>
        </p:spPr>
        <p:txBody>
          <a:bodyPr wrap="square">
            <a:spAutoFit/>
          </a:bodyPr>
          <a:lstStyle/>
          <a:p>
            <a:pPr algn="l"/>
            <a:r>
              <a:rPr sz="1100" b="0" i="0">
                <a:solidFill>
                  <a:srgbClr val="CCD6E0"/>
                </a:solidFill>
                <a:latin typeface="Courier New"/>
              </a:rPr>
              <a:t>https://d15k2eii8qdkf8.cloudfront.net</a:t>
            </a:r>
          </a:p>
        </p:txBody>
      </p:sp>
      <p:sp>
        <p:nvSpPr>
          <p:cNvPr id="12" name="TextBox 11"/>
          <p:cNvSpPr txBox="1"/>
          <p:nvPr/>
        </p:nvSpPr>
        <p:spPr>
          <a:xfrm>
            <a:off x="457200" y="2487168"/>
            <a:ext cx="1828800" cy="365760"/>
          </a:xfrm>
          <a:prstGeom prst="rect">
            <a:avLst/>
          </a:prstGeom>
          <a:noFill/>
        </p:spPr>
        <p:txBody>
          <a:bodyPr wrap="square">
            <a:spAutoFit/>
          </a:bodyPr>
          <a:lstStyle/>
          <a:p>
            <a:pPr algn="l"/>
            <a:r>
              <a:rPr sz="1200" b="1" i="0">
                <a:solidFill>
                  <a:srgbClr val="FF9A00"/>
                </a:solidFill>
                <a:latin typeface="Calibri"/>
              </a:rPr>
              <a:t>MCP endpoint:</a:t>
            </a:r>
          </a:p>
        </p:txBody>
      </p:sp>
      <p:sp>
        <p:nvSpPr>
          <p:cNvPr id="13" name="TextBox 12"/>
          <p:cNvSpPr txBox="1"/>
          <p:nvPr/>
        </p:nvSpPr>
        <p:spPr>
          <a:xfrm>
            <a:off x="2331720" y="2487168"/>
            <a:ext cx="3200400" cy="502920"/>
          </a:xfrm>
          <a:prstGeom prst="rect">
            <a:avLst/>
          </a:prstGeom>
          <a:noFill/>
        </p:spPr>
        <p:txBody>
          <a:bodyPr wrap="square">
            <a:spAutoFit/>
          </a:bodyPr>
          <a:lstStyle/>
          <a:p>
            <a:pPr algn="l"/>
            <a:r>
              <a:rPr sz="1100" b="0" i="0">
                <a:solidFill>
                  <a:srgbClr val="CCD6E0"/>
                </a:solidFill>
                <a:latin typeface="Courier New"/>
              </a:rPr>
              <a:t>https://1hybttfhe2.execute-api.us-east-1.amazonaws.com/mcp</a:t>
            </a:r>
          </a:p>
        </p:txBody>
      </p:sp>
      <p:sp>
        <p:nvSpPr>
          <p:cNvPr id="14" name="TextBox 13"/>
          <p:cNvSpPr txBox="1"/>
          <p:nvPr/>
        </p:nvSpPr>
        <p:spPr>
          <a:xfrm>
            <a:off x="457200" y="3054096"/>
            <a:ext cx="1828800" cy="365760"/>
          </a:xfrm>
          <a:prstGeom prst="rect">
            <a:avLst/>
          </a:prstGeom>
          <a:noFill/>
        </p:spPr>
        <p:txBody>
          <a:bodyPr wrap="square">
            <a:spAutoFit/>
          </a:bodyPr>
          <a:lstStyle/>
          <a:p>
            <a:pPr algn="l"/>
            <a:r>
              <a:rPr sz="1200" b="1" i="0">
                <a:solidFill>
                  <a:srgbClr val="FF9A00"/>
                </a:solidFill>
                <a:latin typeface="Calibri"/>
              </a:rPr>
              <a:t>Registry ARN:</a:t>
            </a:r>
          </a:p>
        </p:txBody>
      </p:sp>
      <p:sp>
        <p:nvSpPr>
          <p:cNvPr id="15" name="TextBox 14"/>
          <p:cNvSpPr txBox="1"/>
          <p:nvPr/>
        </p:nvSpPr>
        <p:spPr>
          <a:xfrm>
            <a:off x="2331720" y="3054096"/>
            <a:ext cx="3200400" cy="502920"/>
          </a:xfrm>
          <a:prstGeom prst="rect">
            <a:avLst/>
          </a:prstGeom>
          <a:noFill/>
        </p:spPr>
        <p:txBody>
          <a:bodyPr wrap="square">
            <a:spAutoFit/>
          </a:bodyPr>
          <a:lstStyle/>
          <a:p>
            <a:pPr algn="l"/>
            <a:r>
              <a:rPr sz="1100" b="0" i="0">
                <a:solidFill>
                  <a:srgbClr val="CCD6E0"/>
                </a:solidFill>
                <a:latin typeface="Courier New"/>
              </a:rPr>
              <a:t>arn:aws:bedrock-agentcore:us-east-1:
336468392708:registry/0ybA4HzNZgVlIJl6</a:t>
            </a:r>
          </a:p>
        </p:txBody>
      </p:sp>
      <p:sp>
        <p:nvSpPr>
          <p:cNvPr id="16" name="TextBox 15"/>
          <p:cNvSpPr txBox="1"/>
          <p:nvPr/>
        </p:nvSpPr>
        <p:spPr>
          <a:xfrm>
            <a:off x="457200" y="3621024"/>
            <a:ext cx="1828800" cy="365760"/>
          </a:xfrm>
          <a:prstGeom prst="rect">
            <a:avLst/>
          </a:prstGeom>
          <a:noFill/>
        </p:spPr>
        <p:txBody>
          <a:bodyPr wrap="square">
            <a:spAutoFit/>
          </a:bodyPr>
          <a:lstStyle/>
          <a:p>
            <a:pPr algn="l"/>
            <a:r>
              <a:rPr sz="1200" b="1" i="0">
                <a:solidFill>
                  <a:srgbClr val="FF9A00"/>
                </a:solidFill>
                <a:latin typeface="Calibri"/>
              </a:rPr>
              <a:t>Records:</a:t>
            </a:r>
          </a:p>
        </p:txBody>
      </p:sp>
      <p:sp>
        <p:nvSpPr>
          <p:cNvPr id="17" name="TextBox 16"/>
          <p:cNvSpPr txBox="1"/>
          <p:nvPr/>
        </p:nvSpPr>
        <p:spPr>
          <a:xfrm>
            <a:off x="2331720" y="3621024"/>
            <a:ext cx="3200400" cy="502920"/>
          </a:xfrm>
          <a:prstGeom prst="rect">
            <a:avLst/>
          </a:prstGeom>
          <a:noFill/>
        </p:spPr>
        <p:txBody>
          <a:bodyPr wrap="square">
            <a:spAutoFit/>
          </a:bodyPr>
          <a:lstStyle/>
          <a:p>
            <a:pPr algn="l"/>
            <a:r>
              <a:rPr sz="1100" b="0" i="0">
                <a:solidFill>
                  <a:srgbClr val="CCD6E0"/>
                </a:solidFill>
                <a:latin typeface="Courier New"/>
              </a:rPr>
              <a:t>6 approved (1 MCP + 5 AGENT_SKILLS)</a:t>
            </a:r>
          </a:p>
        </p:txBody>
      </p:sp>
      <p:sp>
        <p:nvSpPr>
          <p:cNvPr id="18" name="TextBox 17"/>
          <p:cNvSpPr txBox="1"/>
          <p:nvPr/>
        </p:nvSpPr>
        <p:spPr>
          <a:xfrm>
            <a:off x="457200" y="4187952"/>
            <a:ext cx="1828800" cy="365760"/>
          </a:xfrm>
          <a:prstGeom prst="rect">
            <a:avLst/>
          </a:prstGeom>
          <a:noFill/>
        </p:spPr>
        <p:txBody>
          <a:bodyPr wrap="square">
            <a:spAutoFit/>
          </a:bodyPr>
          <a:lstStyle/>
          <a:p>
            <a:pPr algn="l"/>
            <a:r>
              <a:rPr sz="1200" b="1" i="0">
                <a:solidFill>
                  <a:srgbClr val="FF9A00"/>
                </a:solidFill>
                <a:latin typeface="Calibri"/>
              </a:rPr>
              <a:t>Model:</a:t>
            </a:r>
          </a:p>
        </p:txBody>
      </p:sp>
      <p:sp>
        <p:nvSpPr>
          <p:cNvPr id="19" name="TextBox 18"/>
          <p:cNvSpPr txBox="1"/>
          <p:nvPr/>
        </p:nvSpPr>
        <p:spPr>
          <a:xfrm>
            <a:off x="2331720" y="4187952"/>
            <a:ext cx="3200400" cy="502920"/>
          </a:xfrm>
          <a:prstGeom prst="rect">
            <a:avLst/>
          </a:prstGeom>
          <a:noFill/>
        </p:spPr>
        <p:txBody>
          <a:bodyPr wrap="square">
            <a:spAutoFit/>
          </a:bodyPr>
          <a:lstStyle/>
          <a:p>
            <a:pPr algn="l"/>
            <a:r>
              <a:rPr sz="1100" b="0" i="0">
                <a:solidFill>
                  <a:srgbClr val="CCD6E0"/>
                </a:solidFill>
                <a:latin typeface="Courier New"/>
              </a:rPr>
              <a:t>Claude Sonnet 4.6 (cross-region inference)</a:t>
            </a:r>
          </a:p>
        </p:txBody>
      </p:sp>
      <p:sp>
        <p:nvSpPr>
          <p:cNvPr id="20" name="TextBox 19"/>
          <p:cNvSpPr txBox="1"/>
          <p:nvPr/>
        </p:nvSpPr>
        <p:spPr>
          <a:xfrm>
            <a:off x="457200" y="4754880"/>
            <a:ext cx="1828800" cy="365760"/>
          </a:xfrm>
          <a:prstGeom prst="rect">
            <a:avLst/>
          </a:prstGeom>
          <a:noFill/>
        </p:spPr>
        <p:txBody>
          <a:bodyPr wrap="square">
            <a:spAutoFit/>
          </a:bodyPr>
          <a:lstStyle/>
          <a:p>
            <a:pPr algn="l"/>
            <a:r>
              <a:rPr sz="1200" b="1" i="0">
                <a:solidFill>
                  <a:srgbClr val="FF9A00"/>
                </a:solidFill>
                <a:latin typeface="Calibri"/>
              </a:rPr>
              <a:t>Region:</a:t>
            </a:r>
          </a:p>
        </p:txBody>
      </p:sp>
      <p:sp>
        <p:nvSpPr>
          <p:cNvPr id="21" name="TextBox 20"/>
          <p:cNvSpPr txBox="1"/>
          <p:nvPr/>
        </p:nvSpPr>
        <p:spPr>
          <a:xfrm>
            <a:off x="2331720" y="4754880"/>
            <a:ext cx="3200400" cy="502920"/>
          </a:xfrm>
          <a:prstGeom prst="rect">
            <a:avLst/>
          </a:prstGeom>
          <a:noFill/>
        </p:spPr>
        <p:txBody>
          <a:bodyPr wrap="square">
            <a:spAutoFit/>
          </a:bodyPr>
          <a:lstStyle/>
          <a:p>
            <a:pPr algn="l"/>
            <a:r>
              <a:rPr sz="1100" b="0" i="0">
                <a:solidFill>
                  <a:srgbClr val="CCD6E0"/>
                </a:solidFill>
                <a:latin typeface="Courier New"/>
              </a:rPr>
              <a:t>us-east-1</a:t>
            </a:r>
          </a:p>
        </p:txBody>
      </p:sp>
      <p:sp>
        <p:nvSpPr>
          <p:cNvPr id="22" name="Rectangle 21"/>
          <p:cNvSpPr/>
          <p:nvPr/>
        </p:nvSpPr>
        <p:spPr>
          <a:xfrm>
            <a:off x="5852160" y="1371600"/>
            <a:ext cx="6035040" cy="5029200"/>
          </a:xfrm>
          <a:prstGeom prst="rect">
            <a:avLst/>
          </a:prstGeom>
          <a:solidFill>
            <a:srgbClr val="05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1463040"/>
            <a:ext cx="5669280" cy="411480"/>
          </a:xfrm>
          <a:prstGeom prst="rect">
            <a:avLst/>
          </a:prstGeom>
          <a:noFill/>
        </p:spPr>
        <p:txBody>
          <a:bodyPr wrap="square">
            <a:spAutoFit/>
          </a:bodyPr>
          <a:lstStyle/>
          <a:p>
            <a:pPr algn="l"/>
            <a:r>
              <a:rPr sz="1600" b="1" i="0">
                <a:solidFill>
                  <a:srgbClr val="00A8E8"/>
                </a:solidFill>
                <a:latin typeface="Calibri"/>
              </a:rPr>
              <a:t>Critical Code Patterns</a:t>
            </a:r>
          </a:p>
        </p:txBody>
      </p:sp>
      <p:sp>
        <p:nvSpPr>
          <p:cNvPr id="24" name="Rectangle 23"/>
          <p:cNvSpPr/>
          <p:nvPr/>
        </p:nvSpPr>
        <p:spPr>
          <a:xfrm>
            <a:off x="5852160" y="1920240"/>
            <a:ext cx="6035040" cy="1737360"/>
          </a:xfrm>
          <a:prstGeom prst="rect">
            <a:avLst/>
          </a:prstGeom>
          <a:solidFill>
            <a:srgbClr val="05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61888" y="2011680"/>
            <a:ext cx="5815584" cy="1554480"/>
          </a:xfrm>
          <a:prstGeom prst="rect">
            <a:avLst/>
          </a:prstGeom>
          <a:noFill/>
        </p:spPr>
        <p:txBody>
          <a:bodyPr wrap="none">
            <a:spAutoFit/>
          </a:bodyPr>
          <a:lstStyle/>
          <a:p>
            <a:r>
              <a:rPr sz="1200">
                <a:solidFill>
                  <a:srgbClr val="00C47F"/>
                </a:solidFill>
                <a:latin typeface="Courier New"/>
              </a:rPr>
              <a:t># json_response=True — fixes SSE limitation</a:t>
            </a:r>
          </a:p>
          <a:p>
            <a:r>
              <a:rPr sz="1200">
                <a:solidFill>
                  <a:srgbClr val="00C47F"/>
                </a:solidFill>
                <a:latin typeface="Courier New"/>
              </a:rPr>
              <a:t>mcp_app = mcp.http_app(json_response=True)</a:t>
            </a:r>
          </a:p>
          <a:p>
            <a:r>
              <a:rPr sz="1200">
                <a:solidFill>
                  <a:srgbClr val="00C47F"/>
                </a:solidFill>
                <a:latin typeface="Courier New"/>
              </a:rPr>
              <a:t>app = Starlette(</a:t>
            </a:r>
          </a:p>
          <a:p>
            <a:r>
              <a:rPr sz="1200">
                <a:solidFill>
                  <a:srgbClr val="00C47F"/>
                </a:solidFill>
                <a:latin typeface="Courier New"/>
              </a:rPr>
              <a:t>    routes=[Route('/health', health),</a:t>
            </a:r>
          </a:p>
          <a:p>
            <a:r>
              <a:rPr sz="1200">
                <a:solidFill>
                  <a:srgbClr val="00C47F"/>
                </a:solidFill>
                <a:latin typeface="Courier New"/>
              </a:rPr>
              <a:t>            Mount('/', app=mcp_app)],</a:t>
            </a:r>
          </a:p>
          <a:p>
            <a:r>
              <a:rPr sz="1200">
                <a:solidFill>
                  <a:srgbClr val="00C47F"/>
                </a:solidFill>
                <a:latin typeface="Courier New"/>
              </a:rPr>
              <a:t>    lifespan=mcp_app.lifespan,</a:t>
            </a:r>
          </a:p>
          <a:p>
            <a:r>
              <a:rPr sz="1200">
                <a:solidFill>
                  <a:srgbClr val="00C47F"/>
                </a:solidFill>
                <a:latin typeface="Courier New"/>
              </a:rPr>
              <a:t>)</a:t>
            </a:r>
          </a:p>
        </p:txBody>
      </p:sp>
      <p:sp>
        <p:nvSpPr>
          <p:cNvPr id="26" name="Rectangle 25"/>
          <p:cNvSpPr/>
          <p:nvPr/>
        </p:nvSpPr>
        <p:spPr>
          <a:xfrm>
            <a:off x="5852160" y="3794760"/>
            <a:ext cx="6035040" cy="1737360"/>
          </a:xfrm>
          <a:prstGeom prst="rect">
            <a:avLst/>
          </a:prstGeom>
          <a:solidFill>
            <a:srgbClr val="05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61888" y="3886200"/>
            <a:ext cx="5815584" cy="1554480"/>
          </a:xfrm>
          <a:prstGeom prst="rect">
            <a:avLst/>
          </a:prstGeom>
          <a:noFill/>
        </p:spPr>
        <p:txBody>
          <a:bodyPr wrap="none">
            <a:spAutoFit/>
          </a:bodyPr>
          <a:lstStyle/>
          <a:p>
            <a:r>
              <a:rPr sz="1200">
                <a:solidFill>
                  <a:srgbClr val="00C47F"/>
                </a:solidFill>
                <a:latin typeface="Courier New"/>
              </a:rPr>
              <a:t># URL from registry (not SSM)</a:t>
            </a:r>
          </a:p>
          <a:p>
            <a:r>
              <a:rPr sz="1200">
                <a:solidFill>
                  <a:srgbClr val="00C47F"/>
                </a:solidFill>
                <a:latin typeface="Courier New"/>
              </a:rPr>
              <a:t>inline = (record</a:t>
            </a:r>
          </a:p>
          <a:p>
            <a:r>
              <a:rPr sz="1200">
                <a:solidFill>
                  <a:srgbClr val="00C47F"/>
                </a:solidFill>
                <a:latin typeface="Courier New"/>
              </a:rPr>
              <a:t>  .get('descriptors',{})</a:t>
            </a:r>
          </a:p>
          <a:p>
            <a:r>
              <a:rPr sz="1200">
                <a:solidFill>
                  <a:srgbClr val="00C47F"/>
                </a:solidFill>
                <a:latin typeface="Courier New"/>
              </a:rPr>
              <a:t>  .get('mcp',{})</a:t>
            </a:r>
          </a:p>
          <a:p>
            <a:r>
              <a:rPr sz="1200">
                <a:solidFill>
                  <a:srgbClr val="00C47F"/>
                </a:solidFill>
                <a:latin typeface="Courier New"/>
              </a:rPr>
              <a:t>  .get('server',{})</a:t>
            </a:r>
          </a:p>
          <a:p>
            <a:r>
              <a:rPr sz="1200">
                <a:solidFill>
                  <a:srgbClr val="00C47F"/>
                </a:solidFill>
                <a:latin typeface="Courier New"/>
              </a:rPr>
              <a:t>  .get('inlineContent',''))</a:t>
            </a:r>
          </a:p>
          <a:p>
            <a:r>
              <a:rPr sz="1200">
                <a:solidFill>
                  <a:srgbClr val="00C47F"/>
                </a:solidFill>
                <a:latin typeface="Courier New"/>
              </a:rPr>
              <a:t>url = json.loads(inline)['remotes'][0]['url']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54864" cy="6858000"/>
          </a:xfrm>
          <a:prstGeom prst="rect">
            <a:avLst/>
          </a:prstGeom>
          <a:solidFill>
            <a:srgbClr val="FF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11247120" cy="640080"/>
          </a:xfrm>
          <a:prstGeom prst="rect">
            <a:avLst/>
          </a:prstGeom>
          <a:noFill/>
        </p:spPr>
        <p:txBody>
          <a:bodyPr wrap="square">
            <a:spAutoFit/>
          </a:bodyPr>
          <a:lstStyle/>
          <a:p>
            <a:pPr algn="l"/>
            <a:r>
              <a:rPr sz="3400" b="1" i="0">
                <a:solidFill>
                  <a:srgbClr val="FFFFFF"/>
                </a:solidFill>
                <a:latin typeface="Calibri"/>
              </a:rPr>
              <a:t>Key Takeaways</a:t>
            </a:r>
          </a:p>
        </p:txBody>
      </p:sp>
      <p:sp>
        <p:nvSpPr>
          <p:cNvPr id="6" name="Rectangle 5"/>
          <p:cNvSpPr/>
          <p:nvPr/>
        </p:nvSpPr>
        <p:spPr>
          <a:xfrm>
            <a:off x="457200" y="1143000"/>
            <a:ext cx="6400800" cy="36576"/>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3200400" cy="365760"/>
          </a:xfrm>
          <a:prstGeom prst="rect">
            <a:avLst/>
          </a:prstGeom>
          <a:noFill/>
        </p:spPr>
        <p:txBody>
          <a:bodyPr wrap="square">
            <a:spAutoFit/>
          </a:bodyPr>
          <a:lstStyle/>
          <a:p>
            <a:pPr algn="l"/>
            <a:r>
              <a:rPr sz="1400" b="1" i="0">
                <a:solidFill>
                  <a:srgbClr val="FF9A00"/>
                </a:solidFill>
                <a:latin typeface="Calibri"/>
              </a:rPr>
              <a:t>Registry = Control Plane</a:t>
            </a:r>
          </a:p>
        </p:txBody>
      </p:sp>
      <p:sp>
        <p:nvSpPr>
          <p:cNvPr id="10" name="TextBox 9"/>
          <p:cNvSpPr txBox="1"/>
          <p:nvPr/>
        </p:nvSpPr>
        <p:spPr>
          <a:xfrm>
            <a:off x="3840480" y="1444752"/>
            <a:ext cx="7498079" cy="621792"/>
          </a:xfrm>
          <a:prstGeom prst="rect">
            <a:avLst/>
          </a:prstGeom>
          <a:noFill/>
        </p:spPr>
        <p:txBody>
          <a:bodyPr wrap="square">
            <a:spAutoFit/>
          </a:bodyPr>
          <a:lstStyle/>
          <a:p>
            <a:pPr algn="l"/>
            <a:r>
              <a:rPr sz="1300" b="0" i="0">
                <a:solidFill>
                  <a:srgbClr val="CCD6E0"/>
                </a:solidFill>
                <a:latin typeface="Calibri"/>
              </a:rPr>
              <a:t>Agent behavior driven by registry records, not code. New skill = new record. No redeployment.</a:t>
            </a:r>
          </a:p>
        </p:txBody>
      </p:sp>
      <p:sp>
        <p:nvSpPr>
          <p:cNvPr id="11" name="Rectangle 10"/>
          <p:cNvSpPr/>
          <p:nvPr/>
        </p:nvSpPr>
        <p:spPr>
          <a:xfrm>
            <a:off x="365760" y="2176272"/>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76272"/>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21992"/>
            <a:ext cx="3200400" cy="365760"/>
          </a:xfrm>
          <a:prstGeom prst="rect">
            <a:avLst/>
          </a:prstGeom>
          <a:noFill/>
        </p:spPr>
        <p:txBody>
          <a:bodyPr wrap="square">
            <a:spAutoFit/>
          </a:bodyPr>
          <a:lstStyle/>
          <a:p>
            <a:pPr algn="l"/>
            <a:r>
              <a:rPr sz="1400" b="1" i="0">
                <a:solidFill>
                  <a:srgbClr val="FF9A00"/>
                </a:solidFill>
                <a:latin typeface="Calibri"/>
              </a:rPr>
              <a:t>Two Record Types Work Together</a:t>
            </a:r>
          </a:p>
        </p:txBody>
      </p:sp>
      <p:sp>
        <p:nvSpPr>
          <p:cNvPr id="14" name="TextBox 13"/>
          <p:cNvSpPr txBox="1"/>
          <p:nvPr/>
        </p:nvSpPr>
        <p:spPr>
          <a:xfrm>
            <a:off x="3840480" y="2249424"/>
            <a:ext cx="7498079" cy="621792"/>
          </a:xfrm>
          <a:prstGeom prst="rect">
            <a:avLst/>
          </a:prstGeom>
          <a:noFill/>
        </p:spPr>
        <p:txBody>
          <a:bodyPr wrap="square">
            <a:spAutoFit/>
          </a:bodyPr>
          <a:lstStyle/>
          <a:p>
            <a:pPr algn="l"/>
            <a:r>
              <a:rPr sz="1300" b="0" i="0">
                <a:solidFill>
                  <a:srgbClr val="CCD6E0"/>
                </a:solidFill>
                <a:latin typeface="Calibri"/>
              </a:rPr>
              <a:t>AGENT_SKILLS holds the procedure. MCP record holds the server URL. One search call returns both.</a:t>
            </a:r>
          </a:p>
        </p:txBody>
      </p:sp>
      <p:sp>
        <p:nvSpPr>
          <p:cNvPr id="15" name="Rectangle 14"/>
          <p:cNvSpPr/>
          <p:nvPr/>
        </p:nvSpPr>
        <p:spPr>
          <a:xfrm>
            <a:off x="365760" y="2980944"/>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980944"/>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26664"/>
            <a:ext cx="3200400" cy="365760"/>
          </a:xfrm>
          <a:prstGeom prst="rect">
            <a:avLst/>
          </a:prstGeom>
          <a:noFill/>
        </p:spPr>
        <p:txBody>
          <a:bodyPr wrap="square">
            <a:spAutoFit/>
          </a:bodyPr>
          <a:lstStyle/>
          <a:p>
            <a:pPr algn="l"/>
            <a:r>
              <a:rPr sz="1400" b="1" i="0">
                <a:solidFill>
                  <a:srgbClr val="FF9A00"/>
                </a:solidFill>
                <a:latin typeface="Calibri"/>
              </a:rPr>
              <a:t>URL-Sync Requires Three Fixes</a:t>
            </a:r>
          </a:p>
        </p:txBody>
      </p:sp>
      <p:sp>
        <p:nvSpPr>
          <p:cNvPr id="18" name="TextBox 17"/>
          <p:cNvSpPr txBox="1"/>
          <p:nvPr/>
        </p:nvSpPr>
        <p:spPr>
          <a:xfrm>
            <a:off x="3840480" y="3054096"/>
            <a:ext cx="7498079" cy="621792"/>
          </a:xfrm>
          <a:prstGeom prst="rect">
            <a:avLst/>
          </a:prstGeom>
          <a:noFill/>
        </p:spPr>
        <p:txBody>
          <a:bodyPr wrap="square">
            <a:spAutoFit/>
          </a:bodyPr>
          <a:lstStyle/>
          <a:p>
            <a:pPr algn="l"/>
            <a:r>
              <a:rPr sz="1300" b="0" i="0">
                <a:solidFill>
                  <a:srgbClr val="CCD6E0"/>
                </a:solidFill>
                <a:latin typeface="Calibri"/>
              </a:rPr>
              <a:t>IAM trust + json_response=True + correct URL path from inlineContent. All grounded in AWS docs.</a:t>
            </a:r>
          </a:p>
        </p:txBody>
      </p:sp>
      <p:sp>
        <p:nvSpPr>
          <p:cNvPr id="19" name="Rectangle 18"/>
          <p:cNvSpPr/>
          <p:nvPr/>
        </p:nvSpPr>
        <p:spPr>
          <a:xfrm>
            <a:off x="365760" y="3785616"/>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785616"/>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831336"/>
            <a:ext cx="3200400" cy="365760"/>
          </a:xfrm>
          <a:prstGeom prst="rect">
            <a:avLst/>
          </a:prstGeom>
          <a:noFill/>
        </p:spPr>
        <p:txBody>
          <a:bodyPr wrap="square">
            <a:spAutoFit/>
          </a:bodyPr>
          <a:lstStyle/>
          <a:p>
            <a:pPr algn="l"/>
            <a:r>
              <a:rPr sz="1400" b="1" i="0">
                <a:solidFill>
                  <a:srgbClr val="FF9A00"/>
                </a:solidFill>
                <a:latin typeface="Calibri"/>
              </a:rPr>
              <a:t>mcp_tools: is Custom — Not Native</a:t>
            </a:r>
          </a:p>
        </p:txBody>
      </p:sp>
      <p:sp>
        <p:nvSpPr>
          <p:cNvPr id="22" name="TextBox 21"/>
          <p:cNvSpPr txBox="1"/>
          <p:nvPr/>
        </p:nvSpPr>
        <p:spPr>
          <a:xfrm>
            <a:off x="3840480" y="3858768"/>
            <a:ext cx="7498079" cy="621792"/>
          </a:xfrm>
          <a:prstGeom prst="rect">
            <a:avLst/>
          </a:prstGeom>
          <a:noFill/>
        </p:spPr>
        <p:txBody>
          <a:bodyPr wrap="square">
            <a:spAutoFit/>
          </a:bodyPr>
          <a:lstStyle/>
          <a:p>
            <a:pPr algn="l"/>
            <a:r>
              <a:rPr sz="1300" b="0" i="0">
                <a:solidFill>
                  <a:srgbClr val="CCD6E0"/>
                </a:solidFill>
                <a:latin typeface="Calibri"/>
              </a:rPr>
              <a:t>Registry stores skillMd opaquely. Tool filtering is agent-side custom code. AgentCore Gateway does this natively.</a:t>
            </a:r>
          </a:p>
        </p:txBody>
      </p:sp>
      <p:sp>
        <p:nvSpPr>
          <p:cNvPr id="23" name="Rectangle 22"/>
          <p:cNvSpPr/>
          <p:nvPr/>
        </p:nvSpPr>
        <p:spPr>
          <a:xfrm>
            <a:off x="365760" y="4590288"/>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590288"/>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636008"/>
            <a:ext cx="3200400" cy="365760"/>
          </a:xfrm>
          <a:prstGeom prst="rect">
            <a:avLst/>
          </a:prstGeom>
          <a:noFill/>
        </p:spPr>
        <p:txBody>
          <a:bodyPr wrap="square">
            <a:spAutoFit/>
          </a:bodyPr>
          <a:lstStyle/>
          <a:p>
            <a:pPr algn="l"/>
            <a:r>
              <a:rPr sz="1400" b="1" i="0">
                <a:solidFill>
                  <a:srgbClr val="FF9A00"/>
                </a:solidFill>
                <a:latin typeface="Calibri"/>
              </a:rPr>
              <a:t>Infrastructure Driven by One Constraint</a:t>
            </a:r>
          </a:p>
        </p:txBody>
      </p:sp>
      <p:sp>
        <p:nvSpPr>
          <p:cNvPr id="26" name="TextBox 25"/>
          <p:cNvSpPr txBox="1"/>
          <p:nvPr/>
        </p:nvSpPr>
        <p:spPr>
          <a:xfrm>
            <a:off x="3840480" y="4663440"/>
            <a:ext cx="7498079" cy="621792"/>
          </a:xfrm>
          <a:prstGeom prst="rect">
            <a:avLst/>
          </a:prstGeom>
          <a:noFill/>
        </p:spPr>
        <p:txBody>
          <a:bodyPr wrap="square">
            <a:spAutoFit/>
          </a:bodyPr>
          <a:lstStyle/>
          <a:p>
            <a:pPr algn="l"/>
            <a:r>
              <a:rPr sz="1300" b="0" i="0">
                <a:solidFill>
                  <a:srgbClr val="CCD6E0"/>
                </a:solidFill>
                <a:latin typeface="Calibri"/>
              </a:rPr>
              <a:t>Registry crawler can't reach private ALBs. API GW + VPC Link is the bridge. NAT for outbound. Lattice at scale.</a:t>
            </a:r>
          </a:p>
        </p:txBody>
      </p:sp>
      <p:sp>
        <p:nvSpPr>
          <p:cNvPr id="27" name="Rectangle 26"/>
          <p:cNvSpPr/>
          <p:nvPr/>
        </p:nvSpPr>
        <p:spPr>
          <a:xfrm>
            <a:off x="365760" y="5394960"/>
            <a:ext cx="11155680" cy="749808"/>
          </a:xfrm>
          <a:prstGeom prst="rect">
            <a:avLst/>
          </a:prstGeom>
          <a:solidFill>
            <a:srgbClr val="0A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5394960"/>
            <a:ext cx="54864" cy="7498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440680"/>
            <a:ext cx="3200400" cy="365760"/>
          </a:xfrm>
          <a:prstGeom prst="rect">
            <a:avLst/>
          </a:prstGeom>
          <a:noFill/>
        </p:spPr>
        <p:txBody>
          <a:bodyPr wrap="square">
            <a:spAutoFit/>
          </a:bodyPr>
          <a:lstStyle/>
          <a:p>
            <a:pPr algn="l"/>
            <a:r>
              <a:rPr sz="1400" b="1" i="0">
                <a:solidFill>
                  <a:srgbClr val="FF9A00"/>
                </a:solidFill>
                <a:latin typeface="Calibri"/>
              </a:rPr>
              <a:t>No Workarounds</a:t>
            </a:r>
          </a:p>
        </p:txBody>
      </p:sp>
      <p:sp>
        <p:nvSpPr>
          <p:cNvPr id="30" name="TextBox 29"/>
          <p:cNvSpPr txBox="1"/>
          <p:nvPr/>
        </p:nvSpPr>
        <p:spPr>
          <a:xfrm>
            <a:off x="3840480" y="5468112"/>
            <a:ext cx="7498079" cy="621792"/>
          </a:xfrm>
          <a:prstGeom prst="rect">
            <a:avLst/>
          </a:prstGeom>
          <a:noFill/>
        </p:spPr>
        <p:txBody>
          <a:bodyPr wrap="square">
            <a:spAutoFit/>
          </a:bodyPr>
          <a:lstStyle/>
          <a:p>
            <a:pPr algn="l"/>
            <a:r>
              <a:rPr sz="1300" b="0" i="0">
                <a:solidFill>
                  <a:srgbClr val="CCD6E0"/>
                </a:solidFill>
                <a:latin typeface="Calibri"/>
              </a:rPr>
              <a:t>Every pattern here follows AWS docs and GitHub examples. Env var fallbacks and SSM-stored URLs are not the right approach.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